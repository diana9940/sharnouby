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1B3A"/>
                </a:solidFill>
                <a:latin typeface="Calibri"/>
              </a:defRPr>
            </a:pPr>
            <a:r>
              <a:rPr sz="1300" b="0" i="0" u="none" strike="noStrike">
                <a:solidFill>
                  <a:srgbClr val="0C1B3A"/>
                </a:solidFill>
                <a:latin typeface="Calibri"/>
              </a:rPr>
              <a:t>Wholesale: average units per invoice line</a:t>
            </a:r>
          </a:p>
        </c:rich>
      </c:tx>
      <c:layout/>
      <c:overlay val="0"/>
    </c:title>
    <c:autoTitleDeleted val="0"/>
    <c:plotArea>
      <c:layout/>
      <c:barChart>
        <c:barDir val="col"/>
        <c:grouping val="clustered"/>
        <c:varyColors val="0"/>
        <c:ser>
          <c:idx val="0"/>
          <c:order val="0"/>
          <c:tx>
            <c:strRef>
              <c:f>Sheet1!$B$1</c:f>
              <c:strCache>
                <c:ptCount val="1"/>
                <c:pt idx="0">
                  <c:v>Avg units per invoice line</c:v>
                </c:pt>
              </c:strCache>
            </c:strRef>
          </c:tx>
          <c:spPr>
            <a:solidFill>
              <a:srgbClr val="1D5FE0"/>
            </a:solidFill>
            <a:effectLst/>
          </c:spPr>
          <c:invertIfNegative val="0"/>
          <c:dLbls>
            <c:numFmt formatCode="0.0" sourceLinked="0"/>
            <c:txPr>
              <a:bodyPr/>
              <a:lstStyle/>
              <a:p>
                <a:pPr>
                  <a:defRPr b="0" i="0" strike="noStrike" sz="1200" u="none">
                    <a:solidFill>
                      <a:srgbClr val="0C1B3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28% discount</c:v>
                  </c:pt>
                  <c:pt idx="1">
                    <c:v>30% discount</c:v>
                  </c:pt>
                  <c:pt idx="2">
                    <c:v>32% discount</c:v>
                  </c:pt>
                  <c:pt idx="3">
                    <c:v>35% discount</c:v>
                  </c:pt>
                  <c:pt idx="4">
                    <c:v>38% discount</c:v>
                  </c:pt>
                </c:lvl>
              </c:multiLvlStrCache>
            </c:multiLvlStrRef>
          </c:cat>
          <c:val>
            <c:numRef>
              <c:f>Sheet1!$B$2:$B$6</c:f>
              <c:numCache>
                <c:formatCode>General</c:formatCode>
                <c:ptCount val="5"/>
                <c:pt idx="0">
                  <c:v>31.6</c:v>
                </c:pt>
                <c:pt idx="1">
                  <c:v>31.4</c:v>
                </c:pt>
                <c:pt idx="2">
                  <c:v>31.6</c:v>
                </c:pt>
                <c:pt idx="3">
                  <c:v>31.7</c:v>
                </c:pt>
                <c:pt idx="4">
                  <c:v>31.7</c:v>
                </c:pt>
              </c:numCache>
            </c:numRef>
          </c:val>
        </c:ser>
        <c:dLbls>
          <c:numFmt formatCode="0.0" sourceLinked="0"/>
          <c:txPr>
            <a:bodyPr/>
            <a:lstStyle/>
            <a:p>
              <a:pPr>
                <a:defRPr b="0" i="0" strike="noStrike" sz="1200" u="none">
                  <a:solidFill>
                    <a:srgbClr val="0C1B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8C"/>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DBE3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1B3A"/>
                </a:solidFill>
                <a:latin typeface="Calibri"/>
              </a:defRPr>
            </a:pPr>
            <a:r>
              <a:rPr sz="1300" b="0" i="0" u="none" strike="noStrike">
                <a:solidFill>
                  <a:srgbClr val="0C1B3A"/>
                </a:solidFill>
                <a:latin typeface="Calibri"/>
              </a:rPr>
              <a:t>Gross profit on affected wholesale lines (EGP M)</a:t>
            </a:r>
          </a:p>
        </c:rich>
      </c:tx>
      <c:layout/>
      <c:overlay val="0"/>
    </c:title>
    <c:autoTitleDeleted val="0"/>
    <c:plotArea>
      <c:layout/>
      <c:barChart>
        <c:barDir val="col"/>
        <c:grouping val="clustered"/>
        <c:varyColors val="0"/>
        <c:ser>
          <c:idx val="0"/>
          <c:order val="0"/>
          <c:tx>
            <c:strRef>
              <c:f>Sheet1!$B$1</c:f>
              <c:strCache>
                <c:ptCount val="1"/>
                <c:pt idx="0">
                  <c:v>Gross profit on affected lines (EGP M)</c:v>
                </c:pt>
              </c:strCache>
            </c:strRef>
          </c:tx>
          <c:spPr>
            <a:solidFill>
              <a:srgbClr val="1D5FE0"/>
            </a:solidFill>
            <a:effectLst/>
          </c:spPr>
          <c:invertIfNegative val="0"/>
          <c:dLbls>
            <c:numFmt formatCode="0.0" sourceLinked="0"/>
            <c:txPr>
              <a:bodyPr/>
              <a:lstStyle/>
              <a:p>
                <a:pPr>
                  <a:defRPr b="0" i="0" strike="noStrike" sz="1200" u="none">
                    <a:solidFill>
                      <a:srgbClr val="0C1B3A"/>
                    </a:solidFill>
                    <a:latin typeface="Calibri"/>
                  </a:defRPr>
                </a:pPr>
              </a:p>
            </c:txPr>
            <c:showLegendKey val="0"/>
            <c:showVal val="1"/>
            <c:showCatName val="0"/>
            <c:showSerName val="0"/>
            <c:showPercent val="0"/>
            <c:showBubbleSize val="0"/>
            <c:showLeaderLines val="0"/>
          </c:dLbls>
          <c:dPt>
            <c:idx val="0"/>
            <c:invertIfNegative val="0"/>
            <c:bubble3D val="0"/>
            <c:spPr>
              <a:solidFill>
                <a:srgbClr val="1D5FE0"/>
              </a:solidFill>
              <a:effectLst/>
            </c:spPr>
          </c:dPt>
          <c:dPt>
            <c:idx val="1"/>
            <c:invertIfNegative val="0"/>
            <c:bubble3D val="0"/>
            <c:spPr>
              <a:solidFill>
                <a:srgbClr val="E0912A"/>
              </a:solidFill>
              <a:effectLst/>
            </c:spPr>
          </c:dPt>
          <c:dPt>
            <c:idx val="2"/>
            <c:invertIfNegative val="0"/>
            <c:bubble3D val="0"/>
            <c:spPr>
              <a:solidFill>
                <a:srgbClr val="E0912A"/>
              </a:solidFill>
              <a:effectLst/>
            </c:spPr>
          </c:dPt>
          <c:dPt>
            <c:idx val="3"/>
            <c:invertIfNegative val="0"/>
            <c:bubble3D val="0"/>
            <c:spPr>
              <a:solidFill>
                <a:srgbClr val="E0912A"/>
              </a:solidFill>
              <a:effectLst/>
            </c:spPr>
          </c:dPt>
          <c:dPt>
            <c:idx val="4"/>
            <c:invertIfNegative val="0"/>
            <c:bubble3D val="0"/>
            <c:spPr>
              <a:solidFill>
                <a:srgbClr val="E0912A"/>
              </a:solidFill>
              <a:effectLst/>
            </c:spPr>
          </c:dPt>
          <c:cat>
            <c:multiLvlStrRef>
              <c:f>Sheet1!$A$2:$A$6</c:f>
              <c:multiLvlStrCache>
                <c:ptCount val="5"/>
                <c:lvl>
                  <c:pt idx="0">
                    <c:v>Today</c:v>
                  </c:pt>
                  <c:pt idx="1">
                    <c:v>Cap, same volume</c:v>
                  </c:pt>
                  <c:pt idx="2">
                    <c:v>Cap, −10% volume</c:v>
                  </c:pt>
                  <c:pt idx="3">
                    <c:v>Cap, −30% volume</c:v>
                  </c:pt>
                  <c:pt idx="4">
                    <c:v>Cap, −47% volume</c:v>
                  </c:pt>
                </c:lvl>
              </c:multiLvlStrCache>
            </c:multiLvlStrRef>
          </c:cat>
          <c:val>
            <c:numRef>
              <c:f>Sheet1!$B$2:$B$6</c:f>
              <c:numCache>
                <c:formatCode>General</c:formatCode>
                <c:ptCount val="5"/>
                <c:pt idx="0">
                  <c:v>17.9</c:v>
                </c:pt>
                <c:pt idx="1">
                  <c:v>34</c:v>
                </c:pt>
                <c:pt idx="2">
                  <c:v>30.6</c:v>
                </c:pt>
                <c:pt idx="3">
                  <c:v>23.8</c:v>
                </c:pt>
                <c:pt idx="4">
                  <c:v>18</c:v>
                </c:pt>
              </c:numCache>
            </c:numRef>
          </c:val>
        </c:ser>
        <c:dLbls>
          <c:numFmt formatCode="0.0" sourceLinked="0"/>
          <c:txPr>
            <a:bodyPr/>
            <a:lstStyle/>
            <a:p>
              <a:pPr>
                <a:defRPr b="0" i="0" strike="noStrike" sz="1200" u="none">
                  <a:solidFill>
                    <a:srgbClr val="0C1B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BE3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ابدأي بسؤال قبل أي سلايد: "لو شركة بتدي خصم كبير عشان تزود المبيعات، هي كده كسبانة ولا خسرانة؟" اسمعي رد البشمهندس، وبعدين قولي: "أنا اشتغلت على شركة في الموقف ده بالظبط، وهحكيلكم اللي لقيته."
الشركة هي الشرنوبي للملابس، ومنها براند LEO MODA. السؤال اللي هجاوب عليه: ليه أكبر قناة بيع عندهم هي الأقل ربحاً؟
الأدوات باختصار: Python لتحليل الداتا (مكتبة pandas للحسابات، وmatplotlib وseaborn للرسم)، وداشبورد تفاعلي بـ JavaScript في الآخر.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الشركة مش مجرد محلات: فيها تصميم وإنتاج وطباعة وموردين ومخازن وتسويق وأونلاين. الداتا: 180 ألف سطر مبيعات على 36 شهر، و59 منتج، و30 ألف عميل، في 9 جداول مرتبطة. وبنبه إنها داتا تدريبية (Modeled).
الجانب التقني: قريت الملفات بدالة read_csv في مكتبة pandas. وربطت الجداول ببعض بدالة merge، وهي زي JOIN في SQL، لأن جدول المبيعات فيه كود المنتج والعميل والفرع بس، والتفاصيل في جداول تانية.
وفحصت القيم الفاضية بـ isna().sum(). لقيت فراغات في تاريخ المرتجع ونوع العيب، بس دي مقصودة: معناها "مفيش مرتجع" و"مفيش عيب"، فمحذفتهاش لأن ده كان هيمسح مبيعات سليمة.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أول دليل. استخدمت دالة groupby في pandas: بتجمع الصفوف حسب القناة (جملة، تجزئة، أونلاين)، وبعدين agg بتحسب لكل قناة مجموع المبيعات ومجموع الربح. دي زي GROUP BY في SQL بالظبط. وبعدها الهامش = الربح ÷ المبيعات.
النتيجة: الجملة 85% من الإيراد، بس 66% من الربح، وهامشها حوالي 12%، بينما التجزئة والأونلاين 35 لـ 37%.
اللغز: ليه أكبر قناة هي الأقل ربحاً؟ (وقفة صغيرة هنا.)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عملت groupby تاني، المرة دي على نسبة الخصم، وحسبت متوسط الهامش لكل شريحة. الرسم اتعمل بـ matplotlib.
النتيجة: لما مفيش خصم الهامش حوالي 40.5%، ولما الخصم يوصل 38% بينزل لـ 4%. وخصومات الجملة بتتراوح بين 28 و38%، وحوالي 60% من أسطر الجملة خصمها أكتر من 30%.
قبل السلايد الجاي اسألي: "تتوقعوا الكمية في سطر الجملة تزيد لما الخصم يروح من 28 لـ 38%؟" خليهم يرفعوا إيدهم.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المفاجأة. استخدمت نفس groupby بس على عمود الكمية: متوسط الوحدات في السطر لكل شريحة خصم. طلع حوالي 31.6 وحدة في كل الشرايح، من 28% لـ 38%.
يعني الخصم الأعمق ما جابش طلبات أكبر، هو بس قلل الربح.
تنبيه لو حد سأل: ده مش معناه إن الخصم عمره ما بيزود الكمية في الواقع. معناه إن في الداتا دي مفيش علاقة بين الاتنين، فده يستاهل يتجرب على داتا حقيقية.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لقيت نفس النمط في أجزاء تانية من الشركة.
الموردين: عمود التأخير اتحسب بمقارنة منطقية: تاريخ الاستلام الفعلي أكبر من تاريخ الوعد. وبعدين groupby على المورد ومتوسط النتيجة، فطلعت نسبة التأخير. المورد SUP04 وSUP09 متأخرين 60 لـ 65% مقابل 30% للباقي.
المصنع: عديت المراحل اللي فيها عنق زجاجة بدالة value_counts، فطلعت الخياطة 134 أمر والتشطيب 109. والخطوط الخمسة متقاربة في الكفاءة، فمفيش خط واحد هو المشكلة.
التسويق: ROAS = الإيراد المنسوب للحملة ÷ الإنفاق. جوجل حوالي 10 والإنفلونسر 1.1. وفيه رقم WhatsApp حوالي 67، وأنا مش بعتمد عليه لأنه غالباً حساب لمبيعات عملاء موجودين أصلاً، مش تأثير 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الجزء التقني الأهم. كتبت 3 دوال توقع بنفسي بمكتبة numpy، من غير مكتبات ML جاهزة، عشان أي حد يفهم اللي بيحصل:
1) متوسط متحرك: متوسط آخر 3 شهور.
2) Seasonal naive × growth: نفس الشهر السنة اللي فاتت، مضروب في معدل النمو (مجموع آخر 12 شهر ÷ اللي قبلهم). ودالة np.clip بتمنع النمو يبقى مبالغ فيه.
3) Seasonal index + trend: بحسب متوسط كل شهر عشان أطلع مؤشر موسمي، وأشيل الموسمية، وبعدين np.polyfit بترسم خط اتجاه على آخر 24 شهر، وأرجّع الموسمية.
للتقييم عملت backtest: خبّيت آخر 6 شهور، دربت على اللي قبلهم، وتوقعت الـ 6. وقارنت بالحقيقي بـ MAPE، وهو متوسط (الفرق ÷ الحقيقي). المتوسط المتحرك غلط 17 لـ 19%، والطريقة الموسمية 2.4 لـ 3.5%، فاخترتها. التوقع النهائي بنطاق خطأ مش رقم واحد.
لو سألوا ليه مش ARIMA أو Prophet: عندي 36 نقطة شهرية بس، والطرق البسيطة اتجربت وكانت دقيقة وقابلة للشرح. ARIMA وProphet هي الخطوة الجاية لو الداتا أطول أو حقيقية.
وبنبه: الداتا Modeled فموسميتها نضيفة، فالدقة الفعلية هتبقى أقل.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القرار. الحسابات هنا مش مكتبة جاهزة، هي pandas عادي: فلترت أسطر الجملة اللي خصمها فوق 30% بشرط منطقي (boolean filter)، وطلعت 28,078 سطر.
الربح الحالي على الأسطر دي: صافي المبيعات − التكلفة = 17.9 مليون. ولو اتسعرت على سقف 30%: المبيعات الإجمالية × 0.70 − التكلفة = 34 مليون، لو الحجم فضل زي ما هو.
نقطة التعادل = 1 − (الربح الحالي ÷ الربح مع السقف) = 47%. يعني حتى لو خسرنا 47% من حجم الأسطر دي، لسه مش هنخسر.
وبنقول بصراحة: ده سيناريو مش توقع، لأن الداتا ما فيهاش مرونة سعر حقيقية، فجربت كذا نسبة خسارة.
(هنا افتحي الداشبورد وحركي سلايدر سقف الخصم، واطلبي من البشمهندس يختار الرقم.)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الخلاصة في جملة: الخصم الأكبر ما جابش طلبات أكبر، هو بس قلل الربح.
التوصيات: يراجعوا سقف خصم الجملة، يعالجوا الموردين المتأخرين، ويوزعوا ميزانية التسويق حسب العائد.
وبقول حدود الشغل بصراحة: الداتا تدريبية فالدقة الفعلية أقل، والسيناريو بيفترض ثبات باقي العوامل، و2023 و2026 مش سنين كاملة.
الداشبورد ملف HTML واحد، مكتوب بـ JavaScript والرسم بـ SVG، والداتا المجمّعة جواه (حوالي 11 كيلوبايت)، فبيشتغل من غير سيرفر. وجهزت كمان جداول لـ Power BI.
واستعنت بأدوات ذكاء اصطناعي كمساعد وراجعت النتايج بنفسي.
اختمي: "الخلاصة: الخصم الأكبر مش بيجيب أكبر." وبعدين افتحي باب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diana9940.github.io/sharnouby/dashboard.html"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6"/>
        </a:solidFill>
      </p:bgPr>
    </p:bg>
    <p:spTree>
      <p:nvGrpSpPr>
        <p:cNvPr id="1" name=""/>
        <p:cNvGrpSpPr/>
        <p:nvPr/>
      </p:nvGrpSpPr>
      <p:grpSpPr>
        <a:xfrm>
          <a:off x="0" y="0"/>
          <a:ext cx="0" cy="0"/>
          <a:chOff x="0" y="0"/>
          <a:chExt cx="0" cy="0"/>
        </a:xfrm>
      </p:grpSpPr>
      <p:pic>
        <p:nvPicPr>
          <p:cNvPr id="3" name="Image 0" descr="/home/claude/deck/store.jpg">    </p:cNvPr>
          <p:cNvPicPr>
            <a:picLocks noChangeAspect="1"/>
          </p:cNvPicPr>
          <p:nvPr/>
        </p:nvPicPr>
        <p:blipFill>
          <a:blip r:embed="rId1"/>
          <a:stretch>
            <a:fillRect/>
          </a:stretch>
        </p:blipFill>
        <p:spPr>
          <a:xfrm>
            <a:off x="4754880" y="0"/>
            <a:ext cx="4389120" cy="5143500"/>
          </a:xfrm>
          <a:prstGeom prst="rect">
            <a:avLst/>
          </a:prstGeom>
        </p:spPr>
      </p:pic>
      <p:pic>
        <p:nvPicPr>
          <p:cNvPr id="4" name="Image 1" descr="/home/claude/deck/logo_white.png">    </p:cNvPr>
          <p:cNvPicPr>
            <a:picLocks noChangeAspect="1"/>
          </p:cNvPicPr>
          <p:nvPr/>
        </p:nvPicPr>
        <p:blipFill>
          <a:blip r:embed="rId2"/>
          <a:stretch>
            <a:fillRect/>
          </a:stretch>
        </p:blipFill>
        <p:spPr>
          <a:xfrm>
            <a:off x="548640" y="457200"/>
            <a:ext cx="1005840" cy="1005840"/>
          </a:xfrm>
          <a:prstGeom prst="rect">
            <a:avLst/>
          </a:prstGeom>
        </p:spPr>
      </p:pic>
      <p:sp>
        <p:nvSpPr>
          <p:cNvPr id="5" name="Shape 0"/>
          <p:cNvSpPr/>
          <p:nvPr/>
        </p:nvSpPr>
        <p:spPr>
          <a:xfrm>
            <a:off x="548640" y="1783080"/>
            <a:ext cx="2011680" cy="384048"/>
          </a:xfrm>
          <a:prstGeom prst="roundRect">
            <a:avLst>
              <a:gd name="adj" fmla="val 47619"/>
            </a:avLst>
          </a:prstGeom>
          <a:solidFill>
            <a:srgbClr val="E0912A"/>
          </a:solidFill>
          <a:ln w="12700">
            <a:solidFill>
              <a:srgbClr val="E0912A"/>
            </a:solidFill>
            <a:prstDash val="solid"/>
          </a:ln>
        </p:spPr>
      </p:sp>
      <p:sp>
        <p:nvSpPr>
          <p:cNvPr id="6" name="Text 1"/>
          <p:cNvSpPr txBox="1"/>
          <p:nvPr/>
        </p:nvSpPr>
        <p:spPr>
          <a:xfrm>
            <a:off x="548640" y="1783080"/>
            <a:ext cx="2011680" cy="384048"/>
          </a:xfrm>
          <a:prstGeom prst="rect">
            <a:avLst/>
          </a:prstGeom>
          <a:noFill/>
          <a:ln/>
        </p:spPr>
        <p:txBody>
          <a:bodyPr wrap="square" lIns="0" tIns="0" rIns="0" bIns="0" rtlCol="0" anchor="ctr"/>
          <a:lstStyle/>
          <a:p>
            <a:pPr algn="ctr" indent="0" marL="0">
              <a:buNone/>
            </a:pPr>
            <a:r>
              <a:rPr lang="en-US" sz="1400" b="1" dirty="0">
                <a:solidFill>
                  <a:srgbClr val="0A1226"/>
                </a:solidFill>
              </a:rPr>
              <a:t>A DATA STORY</a:t>
            </a:r>
            <a:endParaRPr lang="en-US" sz="1400" dirty="0"/>
          </a:p>
        </p:txBody>
      </p:sp>
      <p:sp>
        <p:nvSpPr>
          <p:cNvPr id="7" name="Text 2"/>
          <p:cNvSpPr txBox="1"/>
          <p:nvPr/>
        </p:nvSpPr>
        <p:spPr>
          <a:xfrm>
            <a:off x="548640" y="2331720"/>
            <a:ext cx="4023360" cy="11887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Case of the Thin Margin</a:t>
            </a:r>
            <a:endParaRPr lang="en-US" sz="3600" dirty="0"/>
          </a:p>
        </p:txBody>
      </p:sp>
      <p:sp>
        <p:nvSpPr>
          <p:cNvPr id="8" name="Text 3"/>
          <p:cNvSpPr txBox="1"/>
          <p:nvPr/>
        </p:nvSpPr>
        <p:spPr>
          <a:xfrm>
            <a:off x="548640" y="3611880"/>
            <a:ext cx="4023360" cy="640080"/>
          </a:xfrm>
          <a:prstGeom prst="rect">
            <a:avLst/>
          </a:prstGeom>
          <a:noFill/>
          <a:ln/>
        </p:spPr>
        <p:txBody>
          <a:bodyPr wrap="square" lIns="0" tIns="0" rIns="0" bIns="0" rtlCol="0" anchor="t"/>
          <a:lstStyle/>
          <a:p>
            <a:pPr indent="0" marL="0">
              <a:buNone/>
            </a:pPr>
            <a:r>
              <a:rPr lang="en-US" sz="1800" dirty="0">
                <a:solidFill>
                  <a:srgbClr val="9DB8FF"/>
                </a:solidFill>
              </a:rPr>
              <a:t>Why does the biggest channel earn the least?</a:t>
            </a:r>
            <a:endParaRPr lang="en-US" sz="1800" dirty="0"/>
          </a:p>
        </p:txBody>
      </p:sp>
      <p:sp>
        <p:nvSpPr>
          <p:cNvPr id="9" name="Text 4"/>
          <p:cNvSpPr txBox="1"/>
          <p:nvPr/>
        </p:nvSpPr>
        <p:spPr>
          <a:xfrm>
            <a:off x="548640" y="4480560"/>
            <a:ext cx="4023360" cy="274320"/>
          </a:xfrm>
          <a:prstGeom prst="rect">
            <a:avLst/>
          </a:prstGeom>
          <a:noFill/>
          <a:ln/>
        </p:spPr>
        <p:txBody>
          <a:bodyPr wrap="square" lIns="0" tIns="0" rIns="0" bIns="0" rtlCol="0" anchor="ctr"/>
          <a:lstStyle/>
          <a:p>
            <a:pPr indent="0" marL="0">
              <a:buNone/>
            </a:pPr>
            <a:r>
              <a:rPr lang="en-US" sz="1200" dirty="0">
                <a:solidFill>
                  <a:srgbClr val="C9D4EE"/>
                </a:solidFill>
              </a:rPr>
              <a:t>El-Sharnouby Group · LEO MODA · HVIA Task 02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CHAPTER 1 · THE SCENE</a:t>
            </a:r>
            <a:endParaRPr lang="en-US" sz="1200" dirty="0"/>
          </a:p>
        </p:txBody>
      </p:sp>
      <p:sp>
        <p:nvSpPr>
          <p:cNvPr id="4" name="Text 1"/>
          <p:cNvSpPr txBox="1"/>
          <p:nvPr/>
        </p:nvSpPr>
        <p:spPr>
          <a:xfrm>
            <a:off x="457200" y="530352"/>
            <a:ext cx="8229600" cy="777240"/>
          </a:xfrm>
          <a:prstGeom prst="rect">
            <a:avLst/>
          </a:prstGeom>
          <a:noFill/>
          <a:ln/>
        </p:spPr>
        <p:txBody>
          <a:bodyPr wrap="square" lIns="0" tIns="0" rIns="0" bIns="0" rtlCol="0" anchor="t"/>
          <a:lstStyle/>
          <a:p>
            <a:pPr indent="0" marL="0">
              <a:buNone/>
            </a:pPr>
            <a:r>
              <a:rPr lang="en-US" sz="2600" b="1" dirty="0">
                <a:solidFill>
                  <a:srgbClr val="0C1B3A"/>
                </a:solidFill>
                <a:latin typeface="Cambria" pitchFamily="34" charset="0"/>
                <a:ea typeface="Cambria" pitchFamily="34" charset="-122"/>
                <a:cs typeface="Cambria" pitchFamily="34" charset="-120"/>
              </a:rPr>
              <a:t>A fashion group where everything is connected</a:t>
            </a:r>
            <a:endParaRPr lang="en-US" sz="2600" dirty="0"/>
          </a:p>
        </p:txBody>
      </p:sp>
      <p:pic>
        <p:nvPicPr>
          <p:cNvPr id="5" name="Image 0" descr="/home/claude/deck/eco.jpg">    </p:cNvPr>
          <p:cNvPicPr>
            <a:picLocks noChangeAspect="1"/>
          </p:cNvPicPr>
          <p:nvPr/>
        </p:nvPicPr>
        <p:blipFill>
          <a:blip r:embed="rId1"/>
          <a:stretch>
            <a:fillRect/>
          </a:stretch>
        </p:blipFill>
        <p:spPr>
          <a:xfrm>
            <a:off x="457200" y="1417320"/>
            <a:ext cx="4389120" cy="2926080"/>
          </a:xfrm>
          <a:prstGeom prst="rect">
            <a:avLst/>
          </a:prstGeom>
        </p:spPr>
      </p:pic>
      <p:sp>
        <p:nvSpPr>
          <p:cNvPr id="6" name="card"/>
          <p:cNvSpPr/>
          <p:nvPr/>
        </p:nvSpPr>
        <p:spPr>
          <a:xfrm>
            <a:off x="5120640" y="1417320"/>
            <a:ext cx="1691640" cy="1188720"/>
          </a:xfrm>
          <a:prstGeom prst="roundRect">
            <a:avLst>
              <a:gd name="adj" fmla="val 9231"/>
            </a:avLst>
          </a:prstGeom>
          <a:solidFill>
            <a:srgbClr val="F3F6FC"/>
          </a:solidFill>
          <a:ln w="12700">
            <a:solidFill>
              <a:srgbClr val="F3F6FC"/>
            </a:solidFill>
            <a:prstDash val="solid"/>
          </a:ln>
        </p:spPr>
      </p:sp>
      <p:sp>
        <p:nvSpPr>
          <p:cNvPr id="7" name="Text 3"/>
          <p:cNvSpPr txBox="1"/>
          <p:nvPr/>
        </p:nvSpPr>
        <p:spPr>
          <a:xfrm>
            <a:off x="5257800" y="1508760"/>
            <a:ext cx="1463040" cy="548640"/>
          </a:xfrm>
          <a:prstGeom prst="rect">
            <a:avLst/>
          </a:prstGeom>
          <a:noFill/>
          <a:ln/>
        </p:spPr>
        <p:txBody>
          <a:bodyPr wrap="square" lIns="0" tIns="0" rIns="0" bIns="0" rtlCol="0" anchor="ctr"/>
          <a:lstStyle/>
          <a:p>
            <a:pPr indent="0" marL="0">
              <a:buNone/>
            </a:pPr>
            <a:r>
              <a:rPr lang="en-US" sz="2400" b="1" dirty="0">
                <a:solidFill>
                  <a:srgbClr val="1D5FE0"/>
                </a:solidFill>
                <a:latin typeface="Cambria" pitchFamily="34" charset="0"/>
                <a:ea typeface="Cambria" pitchFamily="34" charset="-122"/>
                <a:cs typeface="Cambria" pitchFamily="34" charset="-120"/>
              </a:rPr>
              <a:t>180,000</a:t>
            </a:r>
            <a:endParaRPr lang="en-US" sz="2400" dirty="0"/>
          </a:p>
        </p:txBody>
      </p:sp>
      <p:sp>
        <p:nvSpPr>
          <p:cNvPr id="8" name="Text 4"/>
          <p:cNvSpPr txBox="1"/>
          <p:nvPr/>
        </p:nvSpPr>
        <p:spPr>
          <a:xfrm>
            <a:off x="5257800" y="2075688"/>
            <a:ext cx="1463040" cy="457200"/>
          </a:xfrm>
          <a:prstGeom prst="rect">
            <a:avLst/>
          </a:prstGeom>
          <a:noFill/>
          <a:ln/>
        </p:spPr>
        <p:txBody>
          <a:bodyPr wrap="square" lIns="0" tIns="0" rIns="0" bIns="0" rtlCol="0" anchor="t"/>
          <a:lstStyle/>
          <a:p>
            <a:pPr indent="0" marL="0">
              <a:buNone/>
            </a:pPr>
            <a:r>
              <a:rPr lang="en-US" sz="1100" dirty="0">
                <a:solidFill>
                  <a:srgbClr val="5B6B8C"/>
                </a:solidFill>
              </a:rPr>
              <a:t>sales invoice lines</a:t>
            </a:r>
            <a:endParaRPr lang="en-US" sz="1100" dirty="0"/>
          </a:p>
        </p:txBody>
      </p:sp>
      <p:sp>
        <p:nvSpPr>
          <p:cNvPr id="9" name="card"/>
          <p:cNvSpPr/>
          <p:nvPr/>
        </p:nvSpPr>
        <p:spPr>
          <a:xfrm>
            <a:off x="6949440" y="1417320"/>
            <a:ext cx="1691640" cy="1188720"/>
          </a:xfrm>
          <a:prstGeom prst="roundRect">
            <a:avLst>
              <a:gd name="adj" fmla="val 9231"/>
            </a:avLst>
          </a:prstGeom>
          <a:solidFill>
            <a:srgbClr val="F3F6FC"/>
          </a:solidFill>
          <a:ln w="12700">
            <a:solidFill>
              <a:srgbClr val="F3F6FC"/>
            </a:solidFill>
            <a:prstDash val="solid"/>
          </a:ln>
        </p:spPr>
      </p:sp>
      <p:sp>
        <p:nvSpPr>
          <p:cNvPr id="10" name="Text 6"/>
          <p:cNvSpPr txBox="1"/>
          <p:nvPr/>
        </p:nvSpPr>
        <p:spPr>
          <a:xfrm>
            <a:off x="7086600" y="1508760"/>
            <a:ext cx="1463040" cy="548640"/>
          </a:xfrm>
          <a:prstGeom prst="rect">
            <a:avLst/>
          </a:prstGeom>
          <a:noFill/>
          <a:ln/>
        </p:spPr>
        <p:txBody>
          <a:bodyPr wrap="square" lIns="0" tIns="0" rIns="0" bIns="0" rtlCol="0" anchor="ctr"/>
          <a:lstStyle/>
          <a:p>
            <a:pPr indent="0" marL="0">
              <a:buNone/>
            </a:pPr>
            <a:r>
              <a:rPr lang="en-US" sz="2400" b="1" dirty="0">
                <a:solidFill>
                  <a:srgbClr val="1D5FE0"/>
                </a:solidFill>
                <a:latin typeface="Cambria" pitchFamily="34" charset="0"/>
                <a:ea typeface="Cambria" pitchFamily="34" charset="-122"/>
                <a:cs typeface="Cambria" pitchFamily="34" charset="-120"/>
              </a:rPr>
              <a:t>36</a:t>
            </a:r>
            <a:endParaRPr lang="en-US" sz="2400" dirty="0"/>
          </a:p>
        </p:txBody>
      </p:sp>
      <p:sp>
        <p:nvSpPr>
          <p:cNvPr id="11" name="Text 7"/>
          <p:cNvSpPr txBox="1"/>
          <p:nvPr/>
        </p:nvSpPr>
        <p:spPr>
          <a:xfrm>
            <a:off x="7086600" y="2075688"/>
            <a:ext cx="1463040" cy="457200"/>
          </a:xfrm>
          <a:prstGeom prst="rect">
            <a:avLst/>
          </a:prstGeom>
          <a:noFill/>
          <a:ln/>
        </p:spPr>
        <p:txBody>
          <a:bodyPr wrap="square" lIns="0" tIns="0" rIns="0" bIns="0" rtlCol="0" anchor="t"/>
          <a:lstStyle/>
          <a:p>
            <a:pPr indent="0" marL="0">
              <a:buNone/>
            </a:pPr>
            <a:r>
              <a:rPr lang="en-US" sz="1100" dirty="0">
                <a:solidFill>
                  <a:srgbClr val="5B6B8C"/>
                </a:solidFill>
              </a:rPr>
              <a:t>months, Oct-2023 → Sep-2026</a:t>
            </a:r>
            <a:endParaRPr lang="en-US" sz="1100" dirty="0"/>
          </a:p>
        </p:txBody>
      </p:sp>
      <p:sp>
        <p:nvSpPr>
          <p:cNvPr id="12" name="card"/>
          <p:cNvSpPr/>
          <p:nvPr/>
        </p:nvSpPr>
        <p:spPr>
          <a:xfrm>
            <a:off x="5120640" y="2743200"/>
            <a:ext cx="1691640" cy="1188720"/>
          </a:xfrm>
          <a:prstGeom prst="roundRect">
            <a:avLst>
              <a:gd name="adj" fmla="val 9231"/>
            </a:avLst>
          </a:prstGeom>
          <a:solidFill>
            <a:srgbClr val="F3F6FC"/>
          </a:solidFill>
          <a:ln w="12700">
            <a:solidFill>
              <a:srgbClr val="F3F6FC"/>
            </a:solidFill>
            <a:prstDash val="solid"/>
          </a:ln>
        </p:spPr>
      </p:sp>
      <p:sp>
        <p:nvSpPr>
          <p:cNvPr id="13" name="Text 9"/>
          <p:cNvSpPr txBox="1"/>
          <p:nvPr/>
        </p:nvSpPr>
        <p:spPr>
          <a:xfrm>
            <a:off x="5257800" y="2834640"/>
            <a:ext cx="1463040" cy="548640"/>
          </a:xfrm>
          <a:prstGeom prst="rect">
            <a:avLst/>
          </a:prstGeom>
          <a:noFill/>
          <a:ln/>
        </p:spPr>
        <p:txBody>
          <a:bodyPr wrap="square" lIns="0" tIns="0" rIns="0" bIns="0" rtlCol="0" anchor="ctr"/>
          <a:lstStyle/>
          <a:p>
            <a:pPr indent="0" marL="0">
              <a:buNone/>
            </a:pPr>
            <a:r>
              <a:rPr lang="en-US" sz="2400" b="1" dirty="0">
                <a:solidFill>
                  <a:srgbClr val="1D5FE0"/>
                </a:solidFill>
                <a:latin typeface="Cambria" pitchFamily="34" charset="0"/>
                <a:ea typeface="Cambria" pitchFamily="34" charset="-122"/>
                <a:cs typeface="Cambria" pitchFamily="34" charset="-120"/>
              </a:rPr>
              <a:t>59</a:t>
            </a:r>
            <a:endParaRPr lang="en-US" sz="2400" dirty="0"/>
          </a:p>
        </p:txBody>
      </p:sp>
      <p:sp>
        <p:nvSpPr>
          <p:cNvPr id="14" name="Text 10"/>
          <p:cNvSpPr txBox="1"/>
          <p:nvPr/>
        </p:nvSpPr>
        <p:spPr>
          <a:xfrm>
            <a:off x="5257800" y="3401568"/>
            <a:ext cx="1463040" cy="457200"/>
          </a:xfrm>
          <a:prstGeom prst="rect">
            <a:avLst/>
          </a:prstGeom>
          <a:noFill/>
          <a:ln/>
        </p:spPr>
        <p:txBody>
          <a:bodyPr wrap="square" lIns="0" tIns="0" rIns="0" bIns="0" rtlCol="0" anchor="t"/>
          <a:lstStyle/>
          <a:p>
            <a:pPr indent="0" marL="0">
              <a:buNone/>
            </a:pPr>
            <a:r>
              <a:rPr lang="en-US" sz="1100" dirty="0">
                <a:solidFill>
                  <a:srgbClr val="5B6B8C"/>
                </a:solidFill>
              </a:rPr>
              <a:t>products in 4 families</a:t>
            </a:r>
            <a:endParaRPr lang="en-US" sz="1100" dirty="0"/>
          </a:p>
        </p:txBody>
      </p:sp>
      <p:sp>
        <p:nvSpPr>
          <p:cNvPr id="15" name="card"/>
          <p:cNvSpPr/>
          <p:nvPr/>
        </p:nvSpPr>
        <p:spPr>
          <a:xfrm>
            <a:off x="6949440" y="2743200"/>
            <a:ext cx="1691640" cy="1188720"/>
          </a:xfrm>
          <a:prstGeom prst="roundRect">
            <a:avLst>
              <a:gd name="adj" fmla="val 9231"/>
            </a:avLst>
          </a:prstGeom>
          <a:solidFill>
            <a:srgbClr val="F3F6FC"/>
          </a:solidFill>
          <a:ln w="12700">
            <a:solidFill>
              <a:srgbClr val="F3F6FC"/>
            </a:solidFill>
            <a:prstDash val="solid"/>
          </a:ln>
        </p:spPr>
      </p:sp>
      <p:sp>
        <p:nvSpPr>
          <p:cNvPr id="16" name="Text 12"/>
          <p:cNvSpPr txBox="1"/>
          <p:nvPr/>
        </p:nvSpPr>
        <p:spPr>
          <a:xfrm>
            <a:off x="7086600" y="2834640"/>
            <a:ext cx="1463040" cy="548640"/>
          </a:xfrm>
          <a:prstGeom prst="rect">
            <a:avLst/>
          </a:prstGeom>
          <a:noFill/>
          <a:ln/>
        </p:spPr>
        <p:txBody>
          <a:bodyPr wrap="square" lIns="0" tIns="0" rIns="0" bIns="0" rtlCol="0" anchor="ctr"/>
          <a:lstStyle/>
          <a:p>
            <a:pPr indent="0" marL="0">
              <a:buNone/>
            </a:pPr>
            <a:r>
              <a:rPr lang="en-US" sz="2400" b="1" dirty="0">
                <a:solidFill>
                  <a:srgbClr val="1D5FE0"/>
                </a:solidFill>
                <a:latin typeface="Cambria" pitchFamily="34" charset="0"/>
                <a:ea typeface="Cambria" pitchFamily="34" charset="-122"/>
                <a:cs typeface="Cambria" pitchFamily="34" charset="-120"/>
              </a:rPr>
              <a:t>30,000</a:t>
            </a:r>
            <a:endParaRPr lang="en-US" sz="2400" dirty="0"/>
          </a:p>
        </p:txBody>
      </p:sp>
      <p:sp>
        <p:nvSpPr>
          <p:cNvPr id="17" name="Text 13"/>
          <p:cNvSpPr txBox="1"/>
          <p:nvPr/>
        </p:nvSpPr>
        <p:spPr>
          <a:xfrm>
            <a:off x="7086600" y="3401568"/>
            <a:ext cx="1463040" cy="457200"/>
          </a:xfrm>
          <a:prstGeom prst="rect">
            <a:avLst/>
          </a:prstGeom>
          <a:noFill/>
          <a:ln/>
        </p:spPr>
        <p:txBody>
          <a:bodyPr wrap="square" lIns="0" tIns="0" rIns="0" bIns="0" rtlCol="0" anchor="t"/>
          <a:lstStyle/>
          <a:p>
            <a:pPr indent="0" marL="0">
              <a:buNone/>
            </a:pPr>
            <a:r>
              <a:rPr lang="en-US" sz="1100" dirty="0">
                <a:solidFill>
                  <a:srgbClr val="5B6B8C"/>
                </a:solidFill>
              </a:rPr>
              <a:t>customers</a:t>
            </a:r>
            <a:endParaRPr lang="en-US" sz="1100" dirty="0"/>
          </a:p>
        </p:txBody>
      </p:sp>
      <p:sp>
        <p:nvSpPr>
          <p:cNvPr id="18" name="Text 14"/>
          <p:cNvSpPr txBox="1"/>
          <p:nvPr/>
        </p:nvSpPr>
        <p:spPr>
          <a:xfrm>
            <a:off x="5120640" y="4114800"/>
            <a:ext cx="3566160" cy="640080"/>
          </a:xfrm>
          <a:prstGeom prst="rect">
            <a:avLst/>
          </a:prstGeom>
          <a:noFill/>
          <a:ln/>
        </p:spPr>
        <p:txBody>
          <a:bodyPr wrap="square" lIns="0" tIns="0" rIns="0" bIns="0" rtlCol="0" anchor="t"/>
          <a:lstStyle/>
          <a:p>
            <a:pPr indent="0" marL="0">
              <a:buNone/>
            </a:pPr>
            <a:r>
              <a:rPr lang="en-US" sz="1100" dirty="0">
                <a:solidFill>
                  <a:srgbClr val="5B6B8C"/>
                </a:solidFill>
              </a:rPr>
              <a:t>9 linked tables: sales, customers, products, inventory, marketing, production, quality, purchasing, web traffic. Modeled (synthetic) data.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CHAPTER 2 · THE CLUE</a:t>
            </a:r>
            <a:endParaRPr lang="en-US" sz="1200" dirty="0"/>
          </a:p>
        </p:txBody>
      </p:sp>
      <p:sp>
        <p:nvSpPr>
          <p:cNvPr id="4" name="Text 1"/>
          <p:cNvSpPr txBox="1"/>
          <p:nvPr/>
        </p:nvSpPr>
        <p:spPr>
          <a:xfrm>
            <a:off x="457200" y="530352"/>
            <a:ext cx="8229600" cy="777240"/>
          </a:xfrm>
          <a:prstGeom prst="rect">
            <a:avLst/>
          </a:prstGeom>
          <a:noFill/>
          <a:ln/>
        </p:spPr>
        <p:txBody>
          <a:bodyPr wrap="square" lIns="0" tIns="0" rIns="0" bIns="0" rtlCol="0" anchor="t"/>
          <a:lstStyle/>
          <a:p>
            <a:pPr indent="0" marL="0">
              <a:buNone/>
            </a:pPr>
            <a:r>
              <a:rPr lang="en-US" sz="2600" b="1" dirty="0">
                <a:solidFill>
                  <a:srgbClr val="0C1B3A"/>
                </a:solidFill>
                <a:latin typeface="Cambria" pitchFamily="34" charset="0"/>
                <a:ea typeface="Cambria" pitchFamily="34" charset="-122"/>
                <a:cs typeface="Cambria" pitchFamily="34" charset="-120"/>
              </a:rPr>
              <a:t>Wholesale: 85% of revenue, only 66% of profit</a:t>
            </a:r>
            <a:endParaRPr lang="en-US" sz="2600" dirty="0"/>
          </a:p>
        </p:txBody>
      </p:sp>
      <p:pic>
        <p:nvPicPr>
          <p:cNvPr id="5" name="Image 0" descr="/mnt/user-data/outputs/project/charts/02_channel_share.png">    </p:cNvPr>
          <p:cNvPicPr>
            <a:picLocks noChangeAspect="1"/>
          </p:cNvPicPr>
          <p:nvPr/>
        </p:nvPicPr>
        <p:blipFill>
          <a:blip r:embed="rId1"/>
          <a:stretch>
            <a:fillRect/>
          </a:stretch>
        </p:blipFill>
        <p:spPr>
          <a:xfrm>
            <a:off x="457200" y="1417320"/>
            <a:ext cx="4754880" cy="2674620"/>
          </a:xfrm>
          <a:prstGeom prst="rect">
            <a:avLst/>
          </a:prstGeom>
        </p:spPr>
      </p:pic>
      <p:sp>
        <p:nvSpPr>
          <p:cNvPr id="6" name="card"/>
          <p:cNvSpPr/>
          <p:nvPr/>
        </p:nvSpPr>
        <p:spPr>
          <a:xfrm>
            <a:off x="5486400" y="1417320"/>
            <a:ext cx="3200400" cy="804672"/>
          </a:xfrm>
          <a:prstGeom prst="roundRect">
            <a:avLst>
              <a:gd name="adj" fmla="val 13636"/>
            </a:avLst>
          </a:prstGeom>
          <a:solidFill>
            <a:srgbClr val="F3F6FC"/>
          </a:solidFill>
          <a:ln w="12700">
            <a:solidFill>
              <a:srgbClr val="F3F6FC"/>
            </a:solidFill>
            <a:prstDash val="solid"/>
          </a:ln>
        </p:spPr>
      </p:sp>
      <p:sp>
        <p:nvSpPr>
          <p:cNvPr id="7" name="Text 3"/>
          <p:cNvSpPr txBox="1"/>
          <p:nvPr/>
        </p:nvSpPr>
        <p:spPr>
          <a:xfrm>
            <a:off x="5669280" y="1417320"/>
            <a:ext cx="1051560" cy="548640"/>
          </a:xfrm>
          <a:prstGeom prst="rect">
            <a:avLst/>
          </a:prstGeom>
          <a:noFill/>
          <a:ln/>
        </p:spPr>
        <p:txBody>
          <a:bodyPr wrap="square" lIns="0" tIns="0" rIns="0" bIns="0" rtlCol="0" anchor="ctr"/>
          <a:lstStyle/>
          <a:p>
            <a:pPr indent="0" marL="0">
              <a:buNone/>
            </a:pPr>
            <a:r>
              <a:rPr lang="en-US" sz="2600" b="1" dirty="0">
                <a:solidFill>
                  <a:srgbClr val="1D5FE0"/>
                </a:solidFill>
                <a:latin typeface="Cambria" pitchFamily="34" charset="0"/>
                <a:ea typeface="Cambria" pitchFamily="34" charset="-122"/>
                <a:cs typeface="Cambria" pitchFamily="34" charset="-120"/>
              </a:rPr>
              <a:t>85%</a:t>
            </a:r>
            <a:endParaRPr lang="en-US" sz="2600" dirty="0"/>
          </a:p>
        </p:txBody>
      </p:sp>
      <p:sp>
        <p:nvSpPr>
          <p:cNvPr id="8" name="Text 4"/>
          <p:cNvSpPr txBox="1"/>
          <p:nvPr/>
        </p:nvSpPr>
        <p:spPr>
          <a:xfrm>
            <a:off x="6766560" y="1527048"/>
            <a:ext cx="1828800" cy="640080"/>
          </a:xfrm>
          <a:prstGeom prst="rect">
            <a:avLst/>
          </a:prstGeom>
          <a:noFill/>
          <a:ln/>
        </p:spPr>
        <p:txBody>
          <a:bodyPr wrap="square" lIns="0" tIns="0" rIns="0" bIns="0" rtlCol="0" anchor="t"/>
          <a:lstStyle/>
          <a:p>
            <a:pPr indent="0" marL="0">
              <a:buNone/>
            </a:pPr>
            <a:r>
              <a:rPr lang="en-US" sz="1200" dirty="0">
                <a:solidFill>
                  <a:srgbClr val="0C1B3A"/>
                </a:solidFill>
              </a:rPr>
              <a:t>of group revenue</a:t>
            </a:r>
            <a:endParaRPr lang="en-US" sz="1200" dirty="0"/>
          </a:p>
        </p:txBody>
      </p:sp>
      <p:sp>
        <p:nvSpPr>
          <p:cNvPr id="9" name="card"/>
          <p:cNvSpPr/>
          <p:nvPr/>
        </p:nvSpPr>
        <p:spPr>
          <a:xfrm>
            <a:off x="5486400" y="2331720"/>
            <a:ext cx="3200400" cy="804672"/>
          </a:xfrm>
          <a:prstGeom prst="roundRect">
            <a:avLst>
              <a:gd name="adj" fmla="val 13636"/>
            </a:avLst>
          </a:prstGeom>
          <a:solidFill>
            <a:srgbClr val="F3F6FC"/>
          </a:solidFill>
          <a:ln w="12700">
            <a:solidFill>
              <a:srgbClr val="F3F6FC"/>
            </a:solidFill>
            <a:prstDash val="solid"/>
          </a:ln>
        </p:spPr>
      </p:sp>
      <p:sp>
        <p:nvSpPr>
          <p:cNvPr id="10" name="Text 6"/>
          <p:cNvSpPr txBox="1"/>
          <p:nvPr/>
        </p:nvSpPr>
        <p:spPr>
          <a:xfrm>
            <a:off x="5669280" y="2331720"/>
            <a:ext cx="1051560" cy="548640"/>
          </a:xfrm>
          <a:prstGeom prst="rect">
            <a:avLst/>
          </a:prstGeom>
          <a:noFill/>
          <a:ln/>
        </p:spPr>
        <p:txBody>
          <a:bodyPr wrap="square" lIns="0" tIns="0" rIns="0" bIns="0" rtlCol="0" anchor="ctr"/>
          <a:lstStyle/>
          <a:p>
            <a:pPr indent="0" marL="0">
              <a:buNone/>
            </a:pPr>
            <a:r>
              <a:rPr lang="en-US" sz="2600" b="1" dirty="0">
                <a:solidFill>
                  <a:srgbClr val="1D5FE0"/>
                </a:solidFill>
                <a:latin typeface="Cambria" pitchFamily="34" charset="0"/>
                <a:ea typeface="Cambria" pitchFamily="34" charset="-122"/>
                <a:cs typeface="Cambria" pitchFamily="34" charset="-120"/>
              </a:rPr>
              <a:t>66%</a:t>
            </a:r>
            <a:endParaRPr lang="en-US" sz="2600" dirty="0"/>
          </a:p>
        </p:txBody>
      </p:sp>
      <p:sp>
        <p:nvSpPr>
          <p:cNvPr id="11" name="Text 7"/>
          <p:cNvSpPr txBox="1"/>
          <p:nvPr/>
        </p:nvSpPr>
        <p:spPr>
          <a:xfrm>
            <a:off x="6766560" y="2441448"/>
            <a:ext cx="1828800" cy="640080"/>
          </a:xfrm>
          <a:prstGeom prst="rect">
            <a:avLst/>
          </a:prstGeom>
          <a:noFill/>
          <a:ln/>
        </p:spPr>
        <p:txBody>
          <a:bodyPr wrap="square" lIns="0" tIns="0" rIns="0" bIns="0" rtlCol="0" anchor="t"/>
          <a:lstStyle/>
          <a:p>
            <a:pPr indent="0" marL="0">
              <a:buNone/>
            </a:pPr>
            <a:r>
              <a:rPr lang="en-US" sz="1200" dirty="0">
                <a:solidFill>
                  <a:srgbClr val="0C1B3A"/>
                </a:solidFill>
              </a:rPr>
              <a:t>of gross profit</a:t>
            </a:r>
            <a:endParaRPr lang="en-US" sz="1200" dirty="0"/>
          </a:p>
        </p:txBody>
      </p:sp>
      <p:sp>
        <p:nvSpPr>
          <p:cNvPr id="12" name="card"/>
          <p:cNvSpPr/>
          <p:nvPr/>
        </p:nvSpPr>
        <p:spPr>
          <a:xfrm>
            <a:off x="5486400" y="3246120"/>
            <a:ext cx="3200400" cy="804672"/>
          </a:xfrm>
          <a:prstGeom prst="roundRect">
            <a:avLst>
              <a:gd name="adj" fmla="val 13636"/>
            </a:avLst>
          </a:prstGeom>
          <a:solidFill>
            <a:srgbClr val="F3F6FC"/>
          </a:solidFill>
          <a:ln w="12700">
            <a:solidFill>
              <a:srgbClr val="F3F6FC"/>
            </a:solidFill>
            <a:prstDash val="solid"/>
          </a:ln>
        </p:spPr>
      </p:sp>
      <p:sp>
        <p:nvSpPr>
          <p:cNvPr id="13" name="Text 9"/>
          <p:cNvSpPr txBox="1"/>
          <p:nvPr/>
        </p:nvSpPr>
        <p:spPr>
          <a:xfrm>
            <a:off x="5669280" y="3246120"/>
            <a:ext cx="1051560" cy="548640"/>
          </a:xfrm>
          <a:prstGeom prst="rect">
            <a:avLst/>
          </a:prstGeom>
          <a:noFill/>
          <a:ln/>
        </p:spPr>
        <p:txBody>
          <a:bodyPr wrap="square" lIns="0" tIns="0" rIns="0" bIns="0" rtlCol="0" anchor="ctr"/>
          <a:lstStyle/>
          <a:p>
            <a:pPr indent="0" marL="0">
              <a:buNone/>
            </a:pPr>
            <a:r>
              <a:rPr lang="en-US" sz="2600" b="1" dirty="0">
                <a:solidFill>
                  <a:srgbClr val="E0912A"/>
                </a:solidFill>
                <a:latin typeface="Cambria" pitchFamily="34" charset="0"/>
                <a:ea typeface="Cambria" pitchFamily="34" charset="-122"/>
                <a:cs typeface="Cambria" pitchFamily="34" charset="-120"/>
              </a:rPr>
              <a:t>12%</a:t>
            </a:r>
            <a:endParaRPr lang="en-US" sz="2600" dirty="0"/>
          </a:p>
        </p:txBody>
      </p:sp>
      <p:sp>
        <p:nvSpPr>
          <p:cNvPr id="14" name="Text 10"/>
          <p:cNvSpPr txBox="1"/>
          <p:nvPr/>
        </p:nvSpPr>
        <p:spPr>
          <a:xfrm>
            <a:off x="6766560" y="3355848"/>
            <a:ext cx="1828800" cy="640080"/>
          </a:xfrm>
          <a:prstGeom prst="rect">
            <a:avLst/>
          </a:prstGeom>
          <a:noFill/>
          <a:ln/>
        </p:spPr>
        <p:txBody>
          <a:bodyPr wrap="square" lIns="0" tIns="0" rIns="0" bIns="0" rtlCol="0" anchor="t"/>
          <a:lstStyle/>
          <a:p>
            <a:pPr indent="0" marL="0">
              <a:buNone/>
            </a:pPr>
            <a:r>
              <a:rPr lang="en-US" sz="1200" dirty="0">
                <a:solidFill>
                  <a:srgbClr val="0C1B3A"/>
                </a:solidFill>
              </a:rPr>
              <a:t>wholesale margin vs 35–37% in retail &amp; online</a:t>
            </a:r>
            <a:endParaRPr lang="en-US" sz="1200" dirty="0"/>
          </a:p>
        </p:txBody>
      </p:sp>
      <p:sp>
        <p:nvSpPr>
          <p:cNvPr id="15" name="card"/>
          <p:cNvSpPr/>
          <p:nvPr/>
        </p:nvSpPr>
        <p:spPr>
          <a:xfrm>
            <a:off x="457200" y="4251960"/>
            <a:ext cx="8229600" cy="548640"/>
          </a:xfrm>
          <a:prstGeom prst="roundRect">
            <a:avLst>
              <a:gd name="adj" fmla="val 20000"/>
            </a:avLst>
          </a:prstGeom>
          <a:solidFill>
            <a:srgbClr val="0A1226"/>
          </a:solidFill>
          <a:ln w="12700">
            <a:solidFill>
              <a:srgbClr val="0A1226"/>
            </a:solidFill>
            <a:prstDash val="solid"/>
          </a:ln>
        </p:spPr>
      </p:sp>
      <p:sp>
        <p:nvSpPr>
          <p:cNvPr id="16" name="Text 12"/>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600" b="1" dirty="0">
                <a:solidFill>
                  <a:srgbClr val="FFFFFF"/>
                </a:solidFill>
              </a:rPr>
              <a:t>The biggest channel is the least profitable one. Why?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CHAPTER 3 · THE INVESTIGATION</a:t>
            </a:r>
            <a:endParaRPr lang="en-US" sz="1200" dirty="0"/>
          </a:p>
        </p:txBody>
      </p:sp>
      <p:sp>
        <p:nvSpPr>
          <p:cNvPr id="4" name="Text 1"/>
          <p:cNvSpPr txBox="1"/>
          <p:nvPr/>
        </p:nvSpPr>
        <p:spPr>
          <a:xfrm>
            <a:off x="457200" y="530352"/>
            <a:ext cx="8229600" cy="777240"/>
          </a:xfrm>
          <a:prstGeom prst="rect">
            <a:avLst/>
          </a:prstGeom>
          <a:noFill/>
          <a:ln/>
        </p:spPr>
        <p:txBody>
          <a:bodyPr wrap="square" lIns="0" tIns="0" rIns="0" bIns="0" rtlCol="0" anchor="t"/>
          <a:lstStyle/>
          <a:p>
            <a:pPr indent="0" marL="0">
              <a:buNone/>
            </a:pPr>
            <a:r>
              <a:rPr lang="en-US" sz="2600" b="1" dirty="0">
                <a:solidFill>
                  <a:srgbClr val="0C1B3A"/>
                </a:solidFill>
                <a:latin typeface="Cambria" pitchFamily="34" charset="0"/>
                <a:ea typeface="Cambria" pitchFamily="34" charset="-122"/>
                <a:cs typeface="Cambria" pitchFamily="34" charset="-120"/>
              </a:rPr>
              <a:t>Follow the discounts: margin falls from 40% to 4%</a:t>
            </a:r>
            <a:endParaRPr lang="en-US" sz="2600" dirty="0"/>
          </a:p>
        </p:txBody>
      </p:sp>
      <p:pic>
        <p:nvPicPr>
          <p:cNvPr id="5" name="Image 0" descr="/mnt/user-data/outputs/project/charts/03_discount_vs_margin.png">    </p:cNvPr>
          <p:cNvPicPr>
            <a:picLocks noChangeAspect="1"/>
          </p:cNvPicPr>
          <p:nvPr/>
        </p:nvPicPr>
        <p:blipFill>
          <a:blip r:embed="rId1"/>
          <a:stretch>
            <a:fillRect/>
          </a:stretch>
        </p:blipFill>
        <p:spPr>
          <a:xfrm>
            <a:off x="457200" y="1417320"/>
            <a:ext cx="5120640" cy="2304288"/>
          </a:xfrm>
          <a:prstGeom prst="rect">
            <a:avLst/>
          </a:prstGeom>
        </p:spPr>
      </p:pic>
      <p:sp>
        <p:nvSpPr>
          <p:cNvPr id="6" name="card"/>
          <p:cNvSpPr/>
          <p:nvPr/>
        </p:nvSpPr>
        <p:spPr>
          <a:xfrm>
            <a:off x="5852160" y="1417320"/>
            <a:ext cx="2834640" cy="896112"/>
          </a:xfrm>
          <a:prstGeom prst="roundRect">
            <a:avLst>
              <a:gd name="adj" fmla="val 12245"/>
            </a:avLst>
          </a:prstGeom>
          <a:solidFill>
            <a:srgbClr val="F3F6FC"/>
          </a:solidFill>
          <a:ln w="12700">
            <a:solidFill>
              <a:srgbClr val="F3F6FC"/>
            </a:solidFill>
            <a:prstDash val="solid"/>
          </a:ln>
        </p:spPr>
      </p:sp>
      <p:sp>
        <p:nvSpPr>
          <p:cNvPr id="7" name="Text 3"/>
          <p:cNvSpPr txBox="1"/>
          <p:nvPr/>
        </p:nvSpPr>
        <p:spPr>
          <a:xfrm>
            <a:off x="5989320" y="1444752"/>
            <a:ext cx="2651760" cy="548640"/>
          </a:xfrm>
          <a:prstGeom prst="rect">
            <a:avLst/>
          </a:prstGeom>
          <a:noFill/>
          <a:ln/>
        </p:spPr>
        <p:txBody>
          <a:bodyPr wrap="square" lIns="0" tIns="0" rIns="0" bIns="0" rtlCol="0" anchor="ctr"/>
          <a:lstStyle/>
          <a:p>
            <a:pPr indent="0" marL="0">
              <a:buNone/>
            </a:pPr>
            <a:r>
              <a:rPr lang="en-US" sz="2200" b="1" dirty="0">
                <a:solidFill>
                  <a:srgbClr val="E0912A"/>
                </a:solidFill>
                <a:latin typeface="Cambria" pitchFamily="34" charset="0"/>
                <a:ea typeface="Cambria" pitchFamily="34" charset="-122"/>
                <a:cs typeface="Cambria" pitchFamily="34" charset="-120"/>
              </a:rPr>
              <a:t>40.5% → 4.0%</a:t>
            </a:r>
            <a:endParaRPr lang="en-US" sz="2200" dirty="0"/>
          </a:p>
        </p:txBody>
      </p:sp>
      <p:sp>
        <p:nvSpPr>
          <p:cNvPr id="8" name="Text 4"/>
          <p:cNvSpPr txBox="1"/>
          <p:nvPr/>
        </p:nvSpPr>
        <p:spPr>
          <a:xfrm>
            <a:off x="5989320" y="1929384"/>
            <a:ext cx="2606040" cy="365760"/>
          </a:xfrm>
          <a:prstGeom prst="rect">
            <a:avLst/>
          </a:prstGeom>
          <a:noFill/>
          <a:ln/>
        </p:spPr>
        <p:txBody>
          <a:bodyPr wrap="square" lIns="0" tIns="0" rIns="0" bIns="0" rtlCol="0" anchor="t"/>
          <a:lstStyle/>
          <a:p>
            <a:pPr indent="0" marL="0">
              <a:buNone/>
            </a:pPr>
            <a:r>
              <a:rPr lang="en-US" sz="1100" dirty="0">
                <a:solidFill>
                  <a:srgbClr val="0C1B3A"/>
                </a:solidFill>
              </a:rPr>
              <a:t>gross margin: no discount vs 38% discount</a:t>
            </a:r>
            <a:endParaRPr lang="en-US" sz="1100" dirty="0"/>
          </a:p>
        </p:txBody>
      </p:sp>
      <p:sp>
        <p:nvSpPr>
          <p:cNvPr id="9" name="card"/>
          <p:cNvSpPr/>
          <p:nvPr/>
        </p:nvSpPr>
        <p:spPr>
          <a:xfrm>
            <a:off x="5852160" y="2423160"/>
            <a:ext cx="2834640" cy="896112"/>
          </a:xfrm>
          <a:prstGeom prst="roundRect">
            <a:avLst>
              <a:gd name="adj" fmla="val 12245"/>
            </a:avLst>
          </a:prstGeom>
          <a:solidFill>
            <a:srgbClr val="F3F6FC"/>
          </a:solidFill>
          <a:ln w="12700">
            <a:solidFill>
              <a:srgbClr val="F3F6FC"/>
            </a:solidFill>
            <a:prstDash val="solid"/>
          </a:ln>
        </p:spPr>
      </p:sp>
      <p:sp>
        <p:nvSpPr>
          <p:cNvPr id="10" name="Text 6"/>
          <p:cNvSpPr txBox="1"/>
          <p:nvPr/>
        </p:nvSpPr>
        <p:spPr>
          <a:xfrm>
            <a:off x="5989320" y="2450592"/>
            <a:ext cx="2651760" cy="548640"/>
          </a:xfrm>
          <a:prstGeom prst="rect">
            <a:avLst/>
          </a:prstGeom>
          <a:noFill/>
          <a:ln/>
        </p:spPr>
        <p:txBody>
          <a:bodyPr wrap="square" lIns="0" tIns="0" rIns="0" bIns="0" rtlCol="0" anchor="ctr"/>
          <a:lstStyle/>
          <a:p>
            <a:pPr indent="0" marL="0">
              <a:buNone/>
            </a:pPr>
            <a:r>
              <a:rPr lang="en-US" sz="2200" b="1" dirty="0">
                <a:solidFill>
                  <a:srgbClr val="1D5FE0"/>
                </a:solidFill>
                <a:latin typeface="Cambria" pitchFamily="34" charset="0"/>
                <a:ea typeface="Cambria" pitchFamily="34" charset="-122"/>
                <a:cs typeface="Cambria" pitchFamily="34" charset="-120"/>
              </a:rPr>
              <a:t>28–38%</a:t>
            </a:r>
            <a:endParaRPr lang="en-US" sz="2200" dirty="0"/>
          </a:p>
        </p:txBody>
      </p:sp>
      <p:sp>
        <p:nvSpPr>
          <p:cNvPr id="11" name="Text 7"/>
          <p:cNvSpPr txBox="1"/>
          <p:nvPr/>
        </p:nvSpPr>
        <p:spPr>
          <a:xfrm>
            <a:off x="5989320" y="2935224"/>
            <a:ext cx="2606040" cy="365760"/>
          </a:xfrm>
          <a:prstGeom prst="rect">
            <a:avLst/>
          </a:prstGeom>
          <a:noFill/>
          <a:ln/>
        </p:spPr>
        <p:txBody>
          <a:bodyPr wrap="square" lIns="0" tIns="0" rIns="0" bIns="0" rtlCol="0" anchor="t"/>
          <a:lstStyle/>
          <a:p>
            <a:pPr indent="0" marL="0">
              <a:buNone/>
            </a:pPr>
            <a:r>
              <a:rPr lang="en-US" sz="1100" dirty="0">
                <a:solidFill>
                  <a:srgbClr val="0C1B3A"/>
                </a:solidFill>
              </a:rPr>
              <a:t>wholesale discount tiers (28, 30, 32, 35, 38)</a:t>
            </a:r>
            <a:endParaRPr lang="en-US" sz="1100" dirty="0"/>
          </a:p>
        </p:txBody>
      </p:sp>
      <p:sp>
        <p:nvSpPr>
          <p:cNvPr id="12" name="card"/>
          <p:cNvSpPr/>
          <p:nvPr/>
        </p:nvSpPr>
        <p:spPr>
          <a:xfrm>
            <a:off x="5852160" y="3429000"/>
            <a:ext cx="2834640" cy="896112"/>
          </a:xfrm>
          <a:prstGeom prst="roundRect">
            <a:avLst>
              <a:gd name="adj" fmla="val 12245"/>
            </a:avLst>
          </a:prstGeom>
          <a:solidFill>
            <a:srgbClr val="F3F6FC"/>
          </a:solidFill>
          <a:ln w="12700">
            <a:solidFill>
              <a:srgbClr val="F3F6FC"/>
            </a:solidFill>
            <a:prstDash val="solid"/>
          </a:ln>
        </p:spPr>
      </p:sp>
      <p:sp>
        <p:nvSpPr>
          <p:cNvPr id="13" name="Text 9"/>
          <p:cNvSpPr txBox="1"/>
          <p:nvPr/>
        </p:nvSpPr>
        <p:spPr>
          <a:xfrm>
            <a:off x="5989320" y="3456432"/>
            <a:ext cx="2651760" cy="548640"/>
          </a:xfrm>
          <a:prstGeom prst="rect">
            <a:avLst/>
          </a:prstGeom>
          <a:noFill/>
          <a:ln/>
        </p:spPr>
        <p:txBody>
          <a:bodyPr wrap="square" lIns="0" tIns="0" rIns="0" bIns="0" rtlCol="0" anchor="ctr"/>
          <a:lstStyle/>
          <a:p>
            <a:pPr indent="0" marL="0">
              <a:buNone/>
            </a:pPr>
            <a:r>
              <a:rPr lang="en-US" sz="2200" b="1" dirty="0">
                <a:solidFill>
                  <a:srgbClr val="1D5FE0"/>
                </a:solidFill>
                <a:latin typeface="Cambria" pitchFamily="34" charset="0"/>
                <a:ea typeface="Cambria" pitchFamily="34" charset="-122"/>
                <a:cs typeface="Cambria" pitchFamily="34" charset="-120"/>
              </a:rPr>
              <a:t>60%</a:t>
            </a:r>
            <a:endParaRPr lang="en-US" sz="2200" dirty="0"/>
          </a:p>
        </p:txBody>
      </p:sp>
      <p:sp>
        <p:nvSpPr>
          <p:cNvPr id="14" name="Text 10"/>
          <p:cNvSpPr txBox="1"/>
          <p:nvPr/>
        </p:nvSpPr>
        <p:spPr>
          <a:xfrm>
            <a:off x="5989320" y="3941064"/>
            <a:ext cx="2606040" cy="365760"/>
          </a:xfrm>
          <a:prstGeom prst="rect">
            <a:avLst/>
          </a:prstGeom>
          <a:noFill/>
          <a:ln/>
        </p:spPr>
        <p:txBody>
          <a:bodyPr wrap="square" lIns="0" tIns="0" rIns="0" bIns="0" rtlCol="0" anchor="t"/>
          <a:lstStyle/>
          <a:p>
            <a:pPr indent="0" marL="0">
              <a:buNone/>
            </a:pPr>
            <a:r>
              <a:rPr lang="en-US" sz="1100" dirty="0">
                <a:solidFill>
                  <a:srgbClr val="0C1B3A"/>
                </a:solidFill>
              </a:rPr>
              <a:t>of wholesale lines are discounted above 30%</a:t>
            </a:r>
            <a:endParaRPr lang="en-US" sz="1100" dirty="0"/>
          </a:p>
        </p:txBody>
      </p:sp>
      <p:sp>
        <p:nvSpPr>
          <p:cNvPr id="15" name="Text 11"/>
          <p:cNvSpPr txBox="1"/>
          <p:nvPr/>
        </p:nvSpPr>
        <p:spPr>
          <a:xfrm>
            <a:off x="457200" y="3886200"/>
            <a:ext cx="5120640" cy="822960"/>
          </a:xfrm>
          <a:prstGeom prst="rect">
            <a:avLst/>
          </a:prstGeom>
          <a:noFill/>
          <a:ln/>
        </p:spPr>
        <p:txBody>
          <a:bodyPr wrap="square" lIns="0" tIns="0" rIns="0" bIns="0" rtlCol="0" anchor="t"/>
          <a:lstStyle/>
          <a:p>
            <a:pPr indent="0" marL="0">
              <a:buNone/>
            </a:pPr>
            <a:r>
              <a:rPr lang="en-US" sz="1200" dirty="0">
                <a:solidFill>
                  <a:srgbClr val="5B6B8C"/>
                </a:solidFill>
              </a:rPr>
              <a:t>Every extra point of discount comes straight out of margin. Retail and online stay at 0–25%; wholesale sits at 28–38%. The obvious next question: does the deeper discount at least buy bigger orders?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CHAPTER 4 · THE PLOT TWIST</a:t>
            </a:r>
            <a:endParaRPr lang="en-US" sz="1200" dirty="0"/>
          </a:p>
        </p:txBody>
      </p:sp>
      <p:sp>
        <p:nvSpPr>
          <p:cNvPr id="4" name="Text 1"/>
          <p:cNvSpPr txBox="1"/>
          <p:nvPr/>
        </p:nvSpPr>
        <p:spPr>
          <a:xfrm>
            <a:off x="457200" y="530352"/>
            <a:ext cx="8229600" cy="777240"/>
          </a:xfrm>
          <a:prstGeom prst="rect">
            <a:avLst/>
          </a:prstGeom>
          <a:noFill/>
          <a:ln/>
        </p:spPr>
        <p:txBody>
          <a:bodyPr wrap="square" lIns="0" tIns="0" rIns="0" bIns="0" rtlCol="0" anchor="t"/>
          <a:lstStyle/>
          <a:p>
            <a:pPr indent="0" marL="0">
              <a:buNone/>
            </a:pPr>
            <a:r>
              <a:rPr lang="en-US" sz="2600" b="1" dirty="0">
                <a:solidFill>
                  <a:srgbClr val="0C1B3A"/>
                </a:solidFill>
                <a:latin typeface="Cambria" pitchFamily="34" charset="0"/>
                <a:ea typeface="Cambria" pitchFamily="34" charset="-122"/>
                <a:cs typeface="Cambria" pitchFamily="34" charset="-120"/>
              </a:rPr>
              <a:t>Bigger discounts, same order size</a:t>
            </a:r>
            <a:endParaRPr lang="en-US" sz="2600" dirty="0"/>
          </a:p>
        </p:txBody>
      </p:sp>
      <p:graphicFrame>
        <p:nvGraphicFramePr>
          <p:cNvPr id="5" name="Chart 0" descr=""/>
          <p:cNvGraphicFramePr/>
          <p:nvPr/>
        </p:nvGraphicFramePr>
        <p:xfrm>
          <a:off x="457200" y="1417320"/>
          <a:ext cx="5303520" cy="30175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6035040" y="1417320"/>
            <a:ext cx="2651760" cy="1463040"/>
          </a:xfrm>
          <a:prstGeom prst="roundRect">
            <a:avLst>
              <a:gd name="adj" fmla="val 7500"/>
            </a:avLst>
          </a:prstGeom>
          <a:solidFill>
            <a:srgbClr val="F3F6FC"/>
          </a:solidFill>
          <a:ln w="12700">
            <a:solidFill>
              <a:srgbClr val="F3F6FC"/>
            </a:solidFill>
            <a:prstDash val="solid"/>
          </a:ln>
        </p:spPr>
      </p:sp>
      <p:sp>
        <p:nvSpPr>
          <p:cNvPr id="7" name="Text 3"/>
          <p:cNvSpPr txBox="1"/>
          <p:nvPr/>
        </p:nvSpPr>
        <p:spPr>
          <a:xfrm>
            <a:off x="6217920" y="1508760"/>
            <a:ext cx="2286000" cy="548640"/>
          </a:xfrm>
          <a:prstGeom prst="rect">
            <a:avLst/>
          </a:prstGeom>
          <a:noFill/>
          <a:ln/>
        </p:spPr>
        <p:txBody>
          <a:bodyPr wrap="square" lIns="0" tIns="0" rIns="0" bIns="0" rtlCol="0" anchor="ctr"/>
          <a:lstStyle/>
          <a:p>
            <a:pPr indent="0" marL="0">
              <a:buNone/>
            </a:pPr>
            <a:r>
              <a:rPr lang="en-US" sz="3200" b="1" dirty="0">
                <a:solidFill>
                  <a:srgbClr val="E0912A"/>
                </a:solidFill>
                <a:latin typeface="Cambria" pitchFamily="34" charset="0"/>
                <a:ea typeface="Cambria" pitchFamily="34" charset="-122"/>
                <a:cs typeface="Cambria" pitchFamily="34" charset="-120"/>
              </a:rPr>
              <a:t>≈ 31.6</a:t>
            </a:r>
            <a:endParaRPr lang="en-US" sz="3200" dirty="0"/>
          </a:p>
        </p:txBody>
      </p:sp>
      <p:sp>
        <p:nvSpPr>
          <p:cNvPr id="8" name="Text 4"/>
          <p:cNvSpPr txBox="1"/>
          <p:nvPr/>
        </p:nvSpPr>
        <p:spPr>
          <a:xfrm>
            <a:off x="6217920" y="2148840"/>
            <a:ext cx="2377440" cy="685800"/>
          </a:xfrm>
          <a:prstGeom prst="rect">
            <a:avLst/>
          </a:prstGeom>
          <a:noFill/>
          <a:ln/>
        </p:spPr>
        <p:txBody>
          <a:bodyPr wrap="square" lIns="0" tIns="0" rIns="0" bIns="0" rtlCol="0" anchor="t"/>
          <a:lstStyle/>
          <a:p>
            <a:pPr indent="0" marL="0">
              <a:buNone/>
            </a:pPr>
            <a:r>
              <a:rPr lang="en-US" sz="1300" dirty="0">
                <a:solidFill>
                  <a:srgbClr val="0C1B3A"/>
                </a:solidFill>
              </a:rPr>
              <a:t>units per line, whether the discount is 28% or 38%</a:t>
            </a:r>
            <a:endParaRPr lang="en-US" sz="1300" dirty="0"/>
          </a:p>
        </p:txBody>
      </p:sp>
      <p:sp>
        <p:nvSpPr>
          <p:cNvPr id="9" name="card"/>
          <p:cNvSpPr/>
          <p:nvPr/>
        </p:nvSpPr>
        <p:spPr>
          <a:xfrm>
            <a:off x="6035040" y="3017520"/>
            <a:ext cx="2651760" cy="1417320"/>
          </a:xfrm>
          <a:prstGeom prst="roundRect">
            <a:avLst>
              <a:gd name="adj" fmla="val 7742"/>
            </a:avLst>
          </a:prstGeom>
          <a:solidFill>
            <a:srgbClr val="0A1226"/>
          </a:solidFill>
          <a:ln w="12700">
            <a:solidFill>
              <a:srgbClr val="0A1226"/>
            </a:solidFill>
            <a:prstDash val="solid"/>
          </a:ln>
        </p:spPr>
      </p:sp>
      <p:sp>
        <p:nvSpPr>
          <p:cNvPr id="10" name="Text 6"/>
          <p:cNvSpPr txBox="1"/>
          <p:nvPr/>
        </p:nvSpPr>
        <p:spPr>
          <a:xfrm>
            <a:off x="6217920" y="3108960"/>
            <a:ext cx="2331720" cy="1234440"/>
          </a:xfrm>
          <a:prstGeom prst="rect">
            <a:avLst/>
          </a:prstGeom>
          <a:noFill/>
          <a:ln/>
        </p:spPr>
        <p:txBody>
          <a:bodyPr wrap="square" lIns="0" tIns="0" rIns="0" bIns="0" rtlCol="0" anchor="ctr"/>
          <a:lstStyle/>
          <a:p>
            <a:pPr indent="0" marL="0">
              <a:buNone/>
            </a:pPr>
            <a:r>
              <a:rPr lang="en-US" sz="1500" b="1" dirty="0">
                <a:solidFill>
                  <a:srgbClr val="FFFFFF"/>
                </a:solidFill>
              </a:rPr>
              <a:t>The deeper discount did not buy a bigger order. It only cost margin.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CHAPTER 5 · OTHER WITNESSES</a:t>
            </a:r>
            <a:endParaRPr lang="en-US" sz="1200" dirty="0"/>
          </a:p>
        </p:txBody>
      </p:sp>
      <p:sp>
        <p:nvSpPr>
          <p:cNvPr id="4" name="Text 1"/>
          <p:cNvSpPr txBox="1"/>
          <p:nvPr/>
        </p:nvSpPr>
        <p:spPr>
          <a:xfrm>
            <a:off x="457200" y="530352"/>
            <a:ext cx="8229600" cy="777240"/>
          </a:xfrm>
          <a:prstGeom prst="rect">
            <a:avLst/>
          </a:prstGeom>
          <a:noFill/>
          <a:ln/>
        </p:spPr>
        <p:txBody>
          <a:bodyPr wrap="square" lIns="0" tIns="0" rIns="0" bIns="0" rtlCol="0" anchor="t"/>
          <a:lstStyle/>
          <a:p>
            <a:pPr indent="0" marL="0">
              <a:buNone/>
            </a:pPr>
            <a:r>
              <a:rPr lang="en-US" sz="2600" b="1" dirty="0">
                <a:solidFill>
                  <a:srgbClr val="0C1B3A"/>
                </a:solidFill>
                <a:latin typeface="Cambria" pitchFamily="34" charset="0"/>
                <a:ea typeface="Cambria" pitchFamily="34" charset="-122"/>
                <a:cs typeface="Cambria" pitchFamily="34" charset="-120"/>
              </a:rPr>
              <a:t>The rest of the business shows the same leaks</a:t>
            </a:r>
            <a:endParaRPr lang="en-US" sz="2600" dirty="0"/>
          </a:p>
        </p:txBody>
      </p:sp>
      <p:sp>
        <p:nvSpPr>
          <p:cNvPr id="5" name="card"/>
          <p:cNvSpPr/>
          <p:nvPr/>
        </p:nvSpPr>
        <p:spPr>
          <a:xfrm>
            <a:off x="457200" y="1417320"/>
            <a:ext cx="2651760" cy="3337560"/>
          </a:xfrm>
          <a:prstGeom prst="roundRect">
            <a:avLst>
              <a:gd name="adj" fmla="val 4138"/>
            </a:avLst>
          </a:prstGeom>
          <a:solidFill>
            <a:srgbClr val="F3F6FC"/>
          </a:solidFill>
          <a:ln w="12700">
            <a:solidFill>
              <a:srgbClr val="F3F6FC"/>
            </a:solidFill>
            <a:prstDash val="solid"/>
          </a:ln>
        </p:spPr>
      </p:sp>
      <p:pic>
        <p:nvPicPr>
          <p:cNvPr id="6" name="Image 0" descr="/home/claude/deck/fac.jpg">    </p:cNvPr>
          <p:cNvPicPr>
            <a:picLocks noChangeAspect="1"/>
          </p:cNvPicPr>
          <p:nvPr/>
        </p:nvPicPr>
        <p:blipFill>
          <a:blip r:embed="rId1"/>
          <a:srcRect l="0" r="0" t="0" b="0"/>
          <a:stretch/>
        </p:blipFill>
        <p:spPr>
          <a:xfrm>
            <a:off x="548640" y="1508760"/>
            <a:ext cx="2468880" cy="1645920"/>
          </a:xfrm>
          <a:prstGeom prst="rect">
            <a:avLst/>
          </a:prstGeom>
        </p:spPr>
      </p:pic>
      <p:sp>
        <p:nvSpPr>
          <p:cNvPr id="7" name="Text 3"/>
          <p:cNvSpPr txBox="1"/>
          <p:nvPr/>
        </p:nvSpPr>
        <p:spPr>
          <a:xfrm>
            <a:off x="594360" y="3246120"/>
            <a:ext cx="2377440" cy="320040"/>
          </a:xfrm>
          <a:prstGeom prst="rect">
            <a:avLst/>
          </a:prstGeom>
          <a:noFill/>
          <a:ln/>
        </p:spPr>
        <p:txBody>
          <a:bodyPr wrap="square" lIns="0" tIns="0" rIns="0" bIns="0" rtlCol="0" anchor="ctr"/>
          <a:lstStyle/>
          <a:p>
            <a:pPr indent="0" marL="0">
              <a:buNone/>
            </a:pPr>
            <a:r>
              <a:rPr lang="en-US" sz="1600" b="1" dirty="0">
                <a:solidFill>
                  <a:srgbClr val="1D5FE0"/>
                </a:solidFill>
                <a:latin typeface="Cambria" pitchFamily="34" charset="0"/>
                <a:ea typeface="Cambria" pitchFamily="34" charset="-122"/>
                <a:cs typeface="Cambria" pitchFamily="34" charset="-120"/>
              </a:rPr>
              <a:t>Production</a:t>
            </a:r>
            <a:endParaRPr lang="en-US" sz="1600" dirty="0"/>
          </a:p>
        </p:txBody>
      </p:sp>
      <p:sp>
        <p:nvSpPr>
          <p:cNvPr id="8" name="Text 4"/>
          <p:cNvSpPr txBox="1"/>
          <p:nvPr/>
        </p:nvSpPr>
        <p:spPr>
          <a:xfrm>
            <a:off x="594360" y="3584448"/>
            <a:ext cx="2377440" cy="1143000"/>
          </a:xfrm>
          <a:prstGeom prst="rect">
            <a:avLst/>
          </a:prstGeom>
          <a:noFill/>
          <a:ln/>
        </p:spPr>
        <p:txBody>
          <a:bodyPr wrap="square" lIns="0" tIns="0" rIns="0" bIns="0" rtlCol="0" anchor="t"/>
          <a:lstStyle/>
          <a:p>
            <a:pPr indent="0" marL="0">
              <a:buNone/>
            </a:pPr>
            <a:r>
              <a:rPr lang="en-US" sz="1150" dirty="0">
                <a:solidFill>
                  <a:srgbClr val="0C1B3A"/>
                </a:solidFill>
              </a:rPr>
              <a:t>Sewing is the top bottleneck (134 orders), then Finishing (109). The 5 lines run at a similar ≈ 82% efficiency, so no single line is to blame.</a:t>
            </a:r>
            <a:endParaRPr lang="en-US" sz="1150" dirty="0"/>
          </a:p>
        </p:txBody>
      </p:sp>
      <p:sp>
        <p:nvSpPr>
          <p:cNvPr id="9" name="card"/>
          <p:cNvSpPr/>
          <p:nvPr/>
        </p:nvSpPr>
        <p:spPr>
          <a:xfrm>
            <a:off x="3273552" y="1417320"/>
            <a:ext cx="2651760" cy="3337560"/>
          </a:xfrm>
          <a:prstGeom prst="roundRect">
            <a:avLst>
              <a:gd name="adj" fmla="val 4138"/>
            </a:avLst>
          </a:prstGeom>
          <a:solidFill>
            <a:srgbClr val="F3F6FC"/>
          </a:solidFill>
          <a:ln w="12700">
            <a:solidFill>
              <a:srgbClr val="F3F6FC"/>
            </a:solidFill>
            <a:prstDash val="solid"/>
          </a:ln>
        </p:spPr>
      </p:sp>
      <p:pic>
        <p:nvPicPr>
          <p:cNvPr id="10" name="Image 1" descr="/home/claude/deck/sup.jpg">    </p:cNvPr>
          <p:cNvPicPr>
            <a:picLocks noChangeAspect="1"/>
          </p:cNvPicPr>
          <p:nvPr/>
        </p:nvPicPr>
        <p:blipFill>
          <a:blip r:embed="rId2"/>
          <a:srcRect l="0" r="0" t="0" b="0"/>
          <a:stretch/>
        </p:blipFill>
        <p:spPr>
          <a:xfrm>
            <a:off x="3364992" y="1508760"/>
            <a:ext cx="2468880" cy="1645920"/>
          </a:xfrm>
          <a:prstGeom prst="rect">
            <a:avLst/>
          </a:prstGeom>
        </p:spPr>
      </p:pic>
      <p:sp>
        <p:nvSpPr>
          <p:cNvPr id="11" name="Text 6"/>
          <p:cNvSpPr txBox="1"/>
          <p:nvPr/>
        </p:nvSpPr>
        <p:spPr>
          <a:xfrm>
            <a:off x="3410712" y="3246120"/>
            <a:ext cx="2377440" cy="320040"/>
          </a:xfrm>
          <a:prstGeom prst="rect">
            <a:avLst/>
          </a:prstGeom>
          <a:noFill/>
          <a:ln/>
        </p:spPr>
        <p:txBody>
          <a:bodyPr wrap="square" lIns="0" tIns="0" rIns="0" bIns="0" rtlCol="0" anchor="ctr"/>
          <a:lstStyle/>
          <a:p>
            <a:pPr indent="0" marL="0">
              <a:buNone/>
            </a:pPr>
            <a:r>
              <a:rPr lang="en-US" sz="1600" b="1" dirty="0">
                <a:solidFill>
                  <a:srgbClr val="1D5FE0"/>
                </a:solidFill>
                <a:latin typeface="Cambria" pitchFamily="34" charset="0"/>
                <a:ea typeface="Cambria" pitchFamily="34" charset="-122"/>
                <a:cs typeface="Cambria" pitchFamily="34" charset="-120"/>
              </a:rPr>
              <a:t>Suppliers</a:t>
            </a:r>
            <a:endParaRPr lang="en-US" sz="1600" dirty="0"/>
          </a:p>
        </p:txBody>
      </p:sp>
      <p:sp>
        <p:nvSpPr>
          <p:cNvPr id="12" name="Text 7"/>
          <p:cNvSpPr txBox="1"/>
          <p:nvPr/>
        </p:nvSpPr>
        <p:spPr>
          <a:xfrm>
            <a:off x="3410712" y="3584448"/>
            <a:ext cx="2377440" cy="1143000"/>
          </a:xfrm>
          <a:prstGeom prst="rect">
            <a:avLst/>
          </a:prstGeom>
          <a:noFill/>
          <a:ln/>
        </p:spPr>
        <p:txBody>
          <a:bodyPr wrap="square" lIns="0" tIns="0" rIns="0" bIns="0" rtlCol="0" anchor="t"/>
          <a:lstStyle/>
          <a:p>
            <a:pPr indent="0" marL="0">
              <a:buNone/>
            </a:pPr>
            <a:r>
              <a:rPr lang="en-US" sz="1150" dirty="0">
                <a:solidFill>
                  <a:srgbClr val="0C1B3A"/>
                </a:solidFill>
              </a:rPr>
              <a:t>SUP04 and SUP09 deliver late 60–65% of the time, versus ≈ 30% for the others. Defect losses are spread evenly across 8 types.</a:t>
            </a:r>
            <a:endParaRPr lang="en-US" sz="1150" dirty="0"/>
          </a:p>
        </p:txBody>
      </p:sp>
      <p:sp>
        <p:nvSpPr>
          <p:cNvPr id="13" name="card"/>
          <p:cNvSpPr/>
          <p:nvPr/>
        </p:nvSpPr>
        <p:spPr>
          <a:xfrm>
            <a:off x="6089904" y="1417320"/>
            <a:ext cx="2651760" cy="3337560"/>
          </a:xfrm>
          <a:prstGeom prst="roundRect">
            <a:avLst>
              <a:gd name="adj" fmla="val 4138"/>
            </a:avLst>
          </a:prstGeom>
          <a:solidFill>
            <a:srgbClr val="F3F6FC"/>
          </a:solidFill>
          <a:ln w="12700">
            <a:solidFill>
              <a:srgbClr val="F3F6FC"/>
            </a:solidFill>
            <a:prstDash val="solid"/>
          </a:ln>
        </p:spPr>
      </p:sp>
      <p:pic>
        <p:nvPicPr>
          <p:cNvPr id="14" name="Image 2" descr="/home/claude/deck/mkt.jpg">    </p:cNvPr>
          <p:cNvPicPr>
            <a:picLocks noChangeAspect="1"/>
          </p:cNvPicPr>
          <p:nvPr/>
        </p:nvPicPr>
        <p:blipFill>
          <a:blip r:embed="rId3"/>
          <a:srcRect l="0" r="0" t="0" b="0"/>
          <a:stretch/>
        </p:blipFill>
        <p:spPr>
          <a:xfrm>
            <a:off x="6181344" y="1508760"/>
            <a:ext cx="2468880" cy="1645920"/>
          </a:xfrm>
          <a:prstGeom prst="rect">
            <a:avLst/>
          </a:prstGeom>
        </p:spPr>
      </p:pic>
      <p:sp>
        <p:nvSpPr>
          <p:cNvPr id="15" name="Text 9"/>
          <p:cNvSpPr txBox="1"/>
          <p:nvPr/>
        </p:nvSpPr>
        <p:spPr>
          <a:xfrm>
            <a:off x="6227064" y="3246120"/>
            <a:ext cx="2377440" cy="320040"/>
          </a:xfrm>
          <a:prstGeom prst="rect">
            <a:avLst/>
          </a:prstGeom>
          <a:noFill/>
          <a:ln/>
        </p:spPr>
        <p:txBody>
          <a:bodyPr wrap="square" lIns="0" tIns="0" rIns="0" bIns="0" rtlCol="0" anchor="ctr"/>
          <a:lstStyle/>
          <a:p>
            <a:pPr indent="0" marL="0">
              <a:buNone/>
            </a:pPr>
            <a:r>
              <a:rPr lang="en-US" sz="1600" b="1" dirty="0">
                <a:solidFill>
                  <a:srgbClr val="1D5FE0"/>
                </a:solidFill>
                <a:latin typeface="Cambria" pitchFamily="34" charset="0"/>
                <a:ea typeface="Cambria" pitchFamily="34" charset="-122"/>
                <a:cs typeface="Cambria" pitchFamily="34" charset="-120"/>
              </a:rPr>
              <a:t>Customers &amp; marketing</a:t>
            </a:r>
            <a:endParaRPr lang="en-US" sz="1600" dirty="0"/>
          </a:p>
        </p:txBody>
      </p:sp>
      <p:sp>
        <p:nvSpPr>
          <p:cNvPr id="16" name="Text 10"/>
          <p:cNvSpPr txBox="1"/>
          <p:nvPr/>
        </p:nvSpPr>
        <p:spPr>
          <a:xfrm>
            <a:off x="6227064" y="3584448"/>
            <a:ext cx="2377440" cy="1143000"/>
          </a:xfrm>
          <a:prstGeom prst="rect">
            <a:avLst/>
          </a:prstGeom>
          <a:noFill/>
          <a:ln/>
        </p:spPr>
        <p:txBody>
          <a:bodyPr wrap="square" lIns="0" tIns="0" rIns="0" bIns="0" rtlCol="0" anchor="t"/>
          <a:lstStyle/>
          <a:p>
            <a:pPr indent="0" marL="0">
              <a:buNone/>
            </a:pPr>
            <a:r>
              <a:rPr lang="en-US" sz="1150" dirty="0">
                <a:solidFill>
                  <a:srgbClr val="0C1B3A"/>
                </a:solidFill>
              </a:rPr>
              <a:t>83.5% of retail buyers come back. Google returns ≈ 10 EGP per EGP spent; influencers only ≈ 1.1. Online returns reach 7.7% vs 1.8% in wholesale.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CHAPTER 6 · LOOKING AHEAD</a:t>
            </a:r>
            <a:endParaRPr lang="en-US" sz="1200" dirty="0"/>
          </a:p>
        </p:txBody>
      </p:sp>
      <p:sp>
        <p:nvSpPr>
          <p:cNvPr id="4" name="Text 1"/>
          <p:cNvSpPr txBox="1"/>
          <p:nvPr/>
        </p:nvSpPr>
        <p:spPr>
          <a:xfrm>
            <a:off x="457200" y="530352"/>
            <a:ext cx="8229600" cy="777240"/>
          </a:xfrm>
          <a:prstGeom prst="rect">
            <a:avLst/>
          </a:prstGeom>
          <a:noFill/>
          <a:ln/>
        </p:spPr>
        <p:txBody>
          <a:bodyPr wrap="square" lIns="0" tIns="0" rIns="0" bIns="0" rtlCol="0" anchor="t"/>
          <a:lstStyle/>
          <a:p>
            <a:pPr indent="0" marL="0">
              <a:buNone/>
            </a:pPr>
            <a:r>
              <a:rPr lang="en-US" sz="2600" b="1" dirty="0">
                <a:solidFill>
                  <a:srgbClr val="0C1B3A"/>
                </a:solidFill>
                <a:latin typeface="Cambria" pitchFamily="34" charset="0"/>
                <a:ea typeface="Cambria" pitchFamily="34" charset="-122"/>
                <a:cs typeface="Cambria" pitchFamily="34" charset="-120"/>
              </a:rPr>
              <a:t>Forecast: 71.7M EGP in 6 months, peak in December</a:t>
            </a:r>
            <a:endParaRPr lang="en-US" sz="2600" dirty="0"/>
          </a:p>
        </p:txBody>
      </p:sp>
      <p:pic>
        <p:nvPicPr>
          <p:cNvPr id="5" name="Image 0" descr="/mnt/user-data/outputs/project/charts/14_forecast.png">    </p:cNvPr>
          <p:cNvPicPr>
            <a:picLocks noChangeAspect="1"/>
          </p:cNvPicPr>
          <p:nvPr/>
        </p:nvPicPr>
        <p:blipFill>
          <a:blip r:embed="rId1"/>
          <a:stretch>
            <a:fillRect/>
          </a:stretch>
        </p:blipFill>
        <p:spPr>
          <a:xfrm>
            <a:off x="457200" y="1417320"/>
            <a:ext cx="5486400" cy="1880921"/>
          </a:xfrm>
          <a:prstGeom prst="rect">
            <a:avLst/>
          </a:prstGeom>
        </p:spPr>
      </p:pic>
      <p:sp>
        <p:nvSpPr>
          <p:cNvPr id="6" name="Text 2"/>
          <p:cNvSpPr txBox="1"/>
          <p:nvPr/>
        </p:nvSpPr>
        <p:spPr>
          <a:xfrm>
            <a:off x="457200" y="3383280"/>
            <a:ext cx="5486400" cy="502920"/>
          </a:xfrm>
          <a:prstGeom prst="rect">
            <a:avLst/>
          </a:prstGeom>
          <a:noFill/>
          <a:ln/>
        </p:spPr>
        <p:txBody>
          <a:bodyPr wrap="square" lIns="0" tIns="0" rIns="0" bIns="0" rtlCol="0" anchor="t"/>
          <a:lstStyle/>
          <a:p>
            <a:pPr indent="0" marL="0">
              <a:buNone/>
            </a:pPr>
            <a:r>
              <a:rPr lang="en-US" sz="1100" dirty="0">
                <a:solidFill>
                  <a:srgbClr val="5B6B8C"/>
                </a:solidFill>
              </a:rPr>
              <a:t>Orange = forecast Oct-2026 → Mar-2027 with a ± error band. Green dotted = backtest on 6 months the model never saw.</a:t>
            </a:r>
            <a:endParaRPr lang="en-US" sz="1100" dirty="0"/>
          </a:p>
        </p:txBody>
      </p:sp>
      <p:sp>
        <p:nvSpPr>
          <p:cNvPr id="7" name="card"/>
          <p:cNvSpPr/>
          <p:nvPr/>
        </p:nvSpPr>
        <p:spPr>
          <a:xfrm>
            <a:off x="457200" y="3931920"/>
            <a:ext cx="5486400" cy="822960"/>
          </a:xfrm>
          <a:prstGeom prst="roundRect">
            <a:avLst>
              <a:gd name="adj" fmla="val 13333"/>
            </a:avLst>
          </a:prstGeom>
          <a:solidFill>
            <a:srgbClr val="F3F6FC"/>
          </a:solidFill>
          <a:ln w="12700">
            <a:solidFill>
              <a:srgbClr val="F3F6FC"/>
            </a:solidFill>
            <a:prstDash val="solid"/>
          </a:ln>
        </p:spPr>
      </p:sp>
      <p:sp>
        <p:nvSpPr>
          <p:cNvPr id="8" name="Text 4"/>
          <p:cNvSpPr txBox="1"/>
          <p:nvPr/>
        </p:nvSpPr>
        <p:spPr>
          <a:xfrm>
            <a:off x="640080" y="3977640"/>
            <a:ext cx="1920240" cy="548640"/>
          </a:xfrm>
          <a:prstGeom prst="rect">
            <a:avLst/>
          </a:prstGeom>
          <a:noFill/>
          <a:ln/>
        </p:spPr>
        <p:txBody>
          <a:bodyPr wrap="square" lIns="0" tIns="0" rIns="0" bIns="0" rtlCol="0" anchor="ctr"/>
          <a:lstStyle/>
          <a:p>
            <a:pPr indent="0" marL="0">
              <a:buNone/>
            </a:pPr>
            <a:r>
              <a:rPr lang="en-US" sz="2400" b="1" dirty="0">
                <a:solidFill>
                  <a:srgbClr val="E0912A"/>
                </a:solidFill>
                <a:latin typeface="Cambria" pitchFamily="34" charset="0"/>
                <a:ea typeface="Cambria" pitchFamily="34" charset="-122"/>
                <a:cs typeface="Cambria" pitchFamily="34" charset="-120"/>
              </a:rPr>
              <a:t>≈ 16.2M</a:t>
            </a:r>
            <a:endParaRPr lang="en-US" sz="2400" dirty="0"/>
          </a:p>
        </p:txBody>
      </p:sp>
      <p:sp>
        <p:nvSpPr>
          <p:cNvPr id="9" name="Text 5"/>
          <p:cNvSpPr txBox="1"/>
          <p:nvPr/>
        </p:nvSpPr>
        <p:spPr>
          <a:xfrm>
            <a:off x="2560320" y="4069080"/>
            <a:ext cx="3291840" cy="640080"/>
          </a:xfrm>
          <a:prstGeom prst="rect">
            <a:avLst/>
          </a:prstGeom>
          <a:noFill/>
          <a:ln/>
        </p:spPr>
        <p:txBody>
          <a:bodyPr wrap="square" lIns="0" tIns="0" rIns="0" bIns="0" rtlCol="0" anchor="t"/>
          <a:lstStyle/>
          <a:p>
            <a:pPr indent="0" marL="0">
              <a:buNone/>
            </a:pPr>
            <a:r>
              <a:rPr lang="en-US" sz="1200" dirty="0">
                <a:solidFill>
                  <a:srgbClr val="0C1B3A"/>
                </a:solidFill>
              </a:rPr>
              <a:t>expected sales in December 2026, the peak month (Feb is the weakest)</a:t>
            </a:r>
            <a:endParaRPr lang="en-US" sz="1200" dirty="0"/>
          </a:p>
        </p:txBody>
      </p:sp>
      <p:sp>
        <p:nvSpPr>
          <p:cNvPr id="10" name="Text 6"/>
          <p:cNvSpPr txBox="1"/>
          <p:nvPr/>
        </p:nvSpPr>
        <p:spPr>
          <a:xfrm>
            <a:off x="6217920" y="1417320"/>
            <a:ext cx="2468880" cy="274320"/>
          </a:xfrm>
          <a:prstGeom prst="rect">
            <a:avLst/>
          </a:prstGeom>
          <a:noFill/>
          <a:ln/>
        </p:spPr>
        <p:txBody>
          <a:bodyPr wrap="square" lIns="0" tIns="0" rIns="0" bIns="0" rtlCol="0" anchor="ctr"/>
          <a:lstStyle/>
          <a:p>
            <a:pPr indent="0" marL="0">
              <a:buNone/>
            </a:pPr>
            <a:r>
              <a:rPr lang="en-US" sz="1300" b="1" dirty="0">
                <a:solidFill>
                  <a:srgbClr val="0C1B3A"/>
                </a:solidFill>
              </a:rPr>
              <a:t>Backtest error (MAPE)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17920" y="1737360"/>
          <a:ext cx="2468880" cy="914400"/>
        </p:xfrm>
        <a:graphic>
          <a:graphicData uri="http://schemas.openxmlformats.org/drawingml/2006/table">
            <a:tbl>
              <a:tblPr/>
              <a:tblGrid>
                <a:gridCol w="1097280"/>
                <a:gridCol w="640080"/>
                <a:gridCol w="731520"/>
              </a:tblGrid>
              <a:tr h="457200">
                <a:tc>
                  <a:txBody>
                    <a:bodyPr/>
                    <a:lstStyle/>
                    <a:p>
                      <a:pPr indent="0" marL="0">
                        <a:buNone/>
                      </a:pPr>
                      <a:r>
                        <a:rPr lang="en-US" sz="1100" b="1" dirty="0">
                          <a:solidFill>
                            <a:srgbClr val="FFFFFF"/>
                          </a:solidFill>
                        </a:rPr>
                        <a:t>Method</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0A1226"/>
                    </a:solidFill>
                  </a:tcPr>
                </a:tc>
                <a:tc>
                  <a:txBody>
                    <a:bodyPr/>
                    <a:lstStyle/>
                    <a:p>
                      <a:pPr indent="0" marL="0">
                        <a:buNone/>
                      </a:pPr>
                      <a:r>
                        <a:rPr lang="en-US" sz="1100" b="1" dirty="0">
                          <a:solidFill>
                            <a:srgbClr val="FFFFFF"/>
                          </a:solidFill>
                        </a:rPr>
                        <a:t>Whole-sale</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0A1226"/>
                    </a:solidFill>
                  </a:tcPr>
                </a:tc>
                <a:tc>
                  <a:txBody>
                    <a:bodyPr/>
                    <a:lstStyle/>
                    <a:p>
                      <a:pPr indent="0" marL="0">
                        <a:buNone/>
                      </a:pPr>
                      <a:r>
                        <a:rPr lang="en-US" sz="1100" b="1" dirty="0">
                          <a:solidFill>
                            <a:srgbClr val="FFFFFF"/>
                          </a:solidFill>
                        </a:rPr>
                        <a:t>Retail + Online</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0A1226"/>
                    </a:solidFill>
                  </a:tcPr>
                </a:tc>
              </a:tr>
              <a:tr h="457200">
                <a:tc>
                  <a:txBody>
                    <a:bodyPr/>
                    <a:lstStyle/>
                    <a:p>
                      <a:pPr indent="0" marL="0">
                        <a:buNone/>
                      </a:pPr>
                      <a:r>
                        <a:rPr lang="en-US" sz="1100" dirty="0">
                          <a:solidFill>
                            <a:srgbClr val="0C1B3A"/>
                          </a:solidFill>
                        </a:rPr>
                        <a:t>Moving average</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FFFFF"/>
                    </a:solidFill>
                  </a:tcPr>
                </a:tc>
                <a:tc>
                  <a:txBody>
                    <a:bodyPr/>
                    <a:lstStyle/>
                    <a:p>
                      <a:pPr indent="0" marL="0">
                        <a:buNone/>
                      </a:pPr>
                      <a:r>
                        <a:rPr lang="en-US" sz="1100" dirty="0">
                          <a:solidFill>
                            <a:srgbClr val="0C1B3A"/>
                          </a:solidFill>
                        </a:rPr>
                        <a:t>17.2%</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FFFFF"/>
                    </a:solidFill>
                  </a:tcPr>
                </a:tc>
                <a:tc>
                  <a:txBody>
                    <a:bodyPr/>
                    <a:lstStyle/>
                    <a:p>
                      <a:pPr indent="0" marL="0">
                        <a:buNone/>
                      </a:pPr>
                      <a:r>
                        <a:rPr lang="en-US" sz="1100" dirty="0">
                          <a:solidFill>
                            <a:srgbClr val="0C1B3A"/>
                          </a:solidFill>
                        </a:rPr>
                        <a:t>19.0%</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C1B3A"/>
                          </a:solidFill>
                        </a:rPr>
                        <a:t>Seasonal naive × growth</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DF1DC"/>
                    </a:solidFill>
                  </a:tcPr>
                </a:tc>
                <a:tc>
                  <a:txBody>
                    <a:bodyPr/>
                    <a:lstStyle/>
                    <a:p>
                      <a:pPr indent="0" marL="0">
                        <a:buNone/>
                      </a:pPr>
                      <a:r>
                        <a:rPr lang="en-US" sz="1100" b="1" dirty="0">
                          <a:solidFill>
                            <a:srgbClr val="0C1B3A"/>
                          </a:solidFill>
                        </a:rPr>
                        <a:t>3.5%</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DF1DC"/>
                    </a:solidFill>
                  </a:tcPr>
                </a:tc>
                <a:tc>
                  <a:txBody>
                    <a:bodyPr/>
                    <a:lstStyle/>
                    <a:p>
                      <a:pPr indent="0" marL="0">
                        <a:buNone/>
                      </a:pPr>
                      <a:r>
                        <a:rPr lang="en-US" sz="1100" b="1" dirty="0">
                          <a:solidFill>
                            <a:srgbClr val="0C1B3A"/>
                          </a:solidFill>
                        </a:rPr>
                        <a:t>2.4%</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DF1DC"/>
                    </a:solidFill>
                  </a:tcPr>
                </a:tc>
              </a:tr>
              <a:tr h="457200">
                <a:tc>
                  <a:txBody>
                    <a:bodyPr/>
                    <a:lstStyle/>
                    <a:p>
                      <a:pPr indent="0" marL="0">
                        <a:buNone/>
                      </a:pPr>
                      <a:r>
                        <a:rPr lang="en-US" sz="1100" dirty="0">
                          <a:solidFill>
                            <a:srgbClr val="0C1B3A"/>
                          </a:solidFill>
                        </a:rPr>
                        <a:t>Seasonal index + trend</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FFFFF"/>
                    </a:solidFill>
                  </a:tcPr>
                </a:tc>
                <a:tc>
                  <a:txBody>
                    <a:bodyPr/>
                    <a:lstStyle/>
                    <a:p>
                      <a:pPr indent="0" marL="0">
                        <a:buNone/>
                      </a:pPr>
                      <a:r>
                        <a:rPr lang="en-US" sz="1100" dirty="0">
                          <a:solidFill>
                            <a:srgbClr val="0C1B3A"/>
                          </a:solidFill>
                        </a:rPr>
                        <a:t>3.5%</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FFFFF"/>
                    </a:solidFill>
                  </a:tcPr>
                </a:tc>
                <a:tc>
                  <a:txBody>
                    <a:bodyPr/>
                    <a:lstStyle/>
                    <a:p>
                      <a:pPr indent="0" marL="0">
                        <a:buNone/>
                      </a:pPr>
                      <a:r>
                        <a:rPr lang="en-US" sz="1100" dirty="0">
                          <a:solidFill>
                            <a:srgbClr val="0C1B3A"/>
                          </a:solidFill>
                        </a:rPr>
                        <a:t>4.6%</a:t>
                      </a:r>
                      <a:endParaRPr lang="en-US" sz="1100" dirty="0"/>
                    </a:p>
                  </a:txBody>
                  <a:tcPr marL="91440" marR="91440" marT="45720" marB="45720">
                    <a:lnL w="6350" cap="flat" cmpd="sng" algn="ctr">
                      <a:solidFill>
                        <a:srgbClr val="DBE3F2"/>
                      </a:solidFill>
                      <a:prstDash val="solid"/>
                      <a:round/>
                      <a:headEnd type="none" w="med" len="med"/>
                      <a:tailEnd type="none" w="med" len="med"/>
                    </a:lnL>
                    <a:lnR w="6350" cap="flat" cmpd="sng" algn="ctr">
                      <a:solidFill>
                        <a:srgbClr val="DBE3F2"/>
                      </a:solidFill>
                      <a:prstDash val="solid"/>
                      <a:round/>
                      <a:headEnd type="none" w="med" len="med"/>
                      <a:tailEnd type="none" w="med" len="med"/>
                    </a:lnR>
                    <a:lnT w="6350" cap="flat" cmpd="sng" algn="ctr">
                      <a:solidFill>
                        <a:srgbClr val="DBE3F2"/>
                      </a:solidFill>
                      <a:prstDash val="solid"/>
                      <a:round/>
                      <a:headEnd type="none" w="med" len="med"/>
                      <a:tailEnd type="none" w="med" len="med"/>
                    </a:lnT>
                    <a:lnB w="6350" cap="flat" cmpd="sng" algn="ctr">
                      <a:solidFill>
                        <a:srgbClr val="DBE3F2"/>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6217920" y="3657600"/>
            <a:ext cx="2468880" cy="1097280"/>
          </a:xfrm>
          <a:prstGeom prst="rect">
            <a:avLst/>
          </a:prstGeom>
          <a:noFill/>
          <a:ln/>
        </p:spPr>
        <p:txBody>
          <a:bodyPr wrap="square" lIns="0" tIns="0" rIns="0" bIns="0" rtlCol="0" anchor="t"/>
          <a:lstStyle/>
          <a:p>
            <a:pPr indent="0" marL="0">
              <a:buNone/>
            </a:pPr>
            <a:r>
              <a:rPr lang="en-US" sz="1150" dirty="0">
                <a:solidFill>
                  <a:srgbClr val="5B6B8C"/>
                </a:solidFill>
              </a:rPr>
              <a:t>Seasonality matters most here. The winner reuses last year's same month, scaled by growth.</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CHAPTER 7 · THE DECISION</a:t>
            </a:r>
            <a:endParaRPr lang="en-US" sz="1200" dirty="0"/>
          </a:p>
        </p:txBody>
      </p:sp>
      <p:sp>
        <p:nvSpPr>
          <p:cNvPr id="4" name="Text 1"/>
          <p:cNvSpPr txBox="1"/>
          <p:nvPr/>
        </p:nvSpPr>
        <p:spPr>
          <a:xfrm>
            <a:off x="457200" y="530352"/>
            <a:ext cx="8229600" cy="777240"/>
          </a:xfrm>
          <a:prstGeom prst="rect">
            <a:avLst/>
          </a:prstGeom>
          <a:noFill/>
          <a:ln/>
        </p:spPr>
        <p:txBody>
          <a:bodyPr wrap="square" lIns="0" tIns="0" rIns="0" bIns="0" rtlCol="0" anchor="t"/>
          <a:lstStyle/>
          <a:p>
            <a:pPr indent="0" marL="0">
              <a:buNone/>
            </a:pPr>
            <a:r>
              <a:rPr lang="en-US" sz="2600" b="1" dirty="0">
                <a:solidFill>
                  <a:srgbClr val="0C1B3A"/>
                </a:solidFill>
                <a:latin typeface="Cambria" pitchFamily="34" charset="0"/>
                <a:ea typeface="Cambria" pitchFamily="34" charset="-122"/>
                <a:cs typeface="Cambria" pitchFamily="34" charset="-120"/>
              </a:rPr>
              <a:t>What if we capped wholesale discounts at 30%?</a:t>
            </a:r>
            <a:endParaRPr lang="en-US" sz="2600" dirty="0"/>
          </a:p>
        </p:txBody>
      </p:sp>
      <p:graphicFrame>
        <p:nvGraphicFramePr>
          <p:cNvPr id="5" name="Chart 0" descr=""/>
          <p:cNvGraphicFramePr/>
          <p:nvPr/>
        </p:nvGraphicFramePr>
        <p:xfrm>
          <a:off x="457200" y="141732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6080760" y="1417320"/>
            <a:ext cx="2606040" cy="896112"/>
          </a:xfrm>
          <a:prstGeom prst="roundRect">
            <a:avLst>
              <a:gd name="adj" fmla="val 12245"/>
            </a:avLst>
          </a:prstGeom>
          <a:solidFill>
            <a:srgbClr val="F3F6FC"/>
          </a:solidFill>
          <a:ln w="12700">
            <a:solidFill>
              <a:srgbClr val="F3F6FC"/>
            </a:solidFill>
            <a:prstDash val="solid"/>
          </a:ln>
        </p:spPr>
      </p:sp>
      <p:sp>
        <p:nvSpPr>
          <p:cNvPr id="7" name="Text 3"/>
          <p:cNvSpPr txBox="1"/>
          <p:nvPr/>
        </p:nvSpPr>
        <p:spPr>
          <a:xfrm>
            <a:off x="6217920" y="1444752"/>
            <a:ext cx="2377440" cy="548640"/>
          </a:xfrm>
          <a:prstGeom prst="rect">
            <a:avLst/>
          </a:prstGeom>
          <a:noFill/>
          <a:ln/>
        </p:spPr>
        <p:txBody>
          <a:bodyPr wrap="square" lIns="0" tIns="0" rIns="0" bIns="0" rtlCol="0" anchor="ctr"/>
          <a:lstStyle/>
          <a:p>
            <a:pPr indent="0" marL="0">
              <a:buNone/>
            </a:pPr>
            <a:r>
              <a:rPr lang="en-US" sz="2000" b="1" dirty="0">
                <a:solidFill>
                  <a:srgbClr val="1D5FE0"/>
                </a:solidFill>
                <a:latin typeface="Cambria" pitchFamily="34" charset="0"/>
                <a:ea typeface="Cambria" pitchFamily="34" charset="-122"/>
                <a:cs typeface="Cambria" pitchFamily="34" charset="-120"/>
              </a:rPr>
              <a:t>28,078</a:t>
            </a:r>
            <a:endParaRPr lang="en-US" sz="2000" dirty="0"/>
          </a:p>
        </p:txBody>
      </p:sp>
      <p:sp>
        <p:nvSpPr>
          <p:cNvPr id="8" name="Text 4"/>
          <p:cNvSpPr txBox="1"/>
          <p:nvPr/>
        </p:nvSpPr>
        <p:spPr>
          <a:xfrm>
            <a:off x="6217920" y="1920240"/>
            <a:ext cx="2377440" cy="384048"/>
          </a:xfrm>
          <a:prstGeom prst="rect">
            <a:avLst/>
          </a:prstGeom>
          <a:noFill/>
          <a:ln/>
        </p:spPr>
        <p:txBody>
          <a:bodyPr wrap="square" lIns="0" tIns="0" rIns="0" bIns="0" rtlCol="0" anchor="t"/>
          <a:lstStyle/>
          <a:p>
            <a:pPr indent="0" marL="0">
              <a:buNone/>
            </a:pPr>
            <a:r>
              <a:rPr lang="en-US" sz="1100" dirty="0">
                <a:solidFill>
                  <a:srgbClr val="0C1B3A"/>
                </a:solidFill>
              </a:rPr>
              <a:t>wholesale lines above 30% discount</a:t>
            </a:r>
            <a:endParaRPr lang="en-US" sz="1100" dirty="0"/>
          </a:p>
        </p:txBody>
      </p:sp>
      <p:sp>
        <p:nvSpPr>
          <p:cNvPr id="9" name="card"/>
          <p:cNvSpPr/>
          <p:nvPr/>
        </p:nvSpPr>
        <p:spPr>
          <a:xfrm>
            <a:off x="6080760" y="2423160"/>
            <a:ext cx="2606040" cy="896112"/>
          </a:xfrm>
          <a:prstGeom prst="roundRect">
            <a:avLst>
              <a:gd name="adj" fmla="val 12245"/>
            </a:avLst>
          </a:prstGeom>
          <a:solidFill>
            <a:srgbClr val="F3F6FC"/>
          </a:solidFill>
          <a:ln w="12700">
            <a:solidFill>
              <a:srgbClr val="F3F6FC"/>
            </a:solidFill>
            <a:prstDash val="solid"/>
          </a:ln>
        </p:spPr>
      </p:sp>
      <p:sp>
        <p:nvSpPr>
          <p:cNvPr id="10" name="Text 6"/>
          <p:cNvSpPr txBox="1"/>
          <p:nvPr/>
        </p:nvSpPr>
        <p:spPr>
          <a:xfrm>
            <a:off x="6217920" y="2450592"/>
            <a:ext cx="2377440" cy="548640"/>
          </a:xfrm>
          <a:prstGeom prst="rect">
            <a:avLst/>
          </a:prstGeom>
          <a:noFill/>
          <a:ln/>
        </p:spPr>
        <p:txBody>
          <a:bodyPr wrap="square" lIns="0" tIns="0" rIns="0" bIns="0" rtlCol="0" anchor="ctr"/>
          <a:lstStyle/>
          <a:p>
            <a:pPr indent="0" marL="0">
              <a:buNone/>
            </a:pPr>
            <a:r>
              <a:rPr lang="en-US" sz="2000" b="1" dirty="0">
                <a:solidFill>
                  <a:srgbClr val="E0912A"/>
                </a:solidFill>
                <a:latin typeface="Cambria" pitchFamily="34" charset="0"/>
                <a:ea typeface="Cambria" pitchFamily="34" charset="-122"/>
                <a:cs typeface="Cambria" pitchFamily="34" charset="-120"/>
              </a:rPr>
              <a:t>17.9M → 34.0M</a:t>
            </a:r>
            <a:endParaRPr lang="en-US" sz="2000" dirty="0"/>
          </a:p>
        </p:txBody>
      </p:sp>
      <p:sp>
        <p:nvSpPr>
          <p:cNvPr id="11" name="Text 7"/>
          <p:cNvSpPr txBox="1"/>
          <p:nvPr/>
        </p:nvSpPr>
        <p:spPr>
          <a:xfrm>
            <a:off x="6217920" y="2926080"/>
            <a:ext cx="2377440" cy="384048"/>
          </a:xfrm>
          <a:prstGeom prst="rect">
            <a:avLst/>
          </a:prstGeom>
          <a:noFill/>
          <a:ln/>
        </p:spPr>
        <p:txBody>
          <a:bodyPr wrap="square" lIns="0" tIns="0" rIns="0" bIns="0" rtlCol="0" anchor="t"/>
          <a:lstStyle/>
          <a:p>
            <a:pPr indent="0" marL="0">
              <a:buNone/>
            </a:pPr>
            <a:r>
              <a:rPr lang="en-US" sz="1100" dirty="0">
                <a:solidFill>
                  <a:srgbClr val="0C1B3A"/>
                </a:solidFill>
              </a:rPr>
              <a:t>profit now vs capped, same volume</a:t>
            </a:r>
            <a:endParaRPr lang="en-US" sz="1100" dirty="0"/>
          </a:p>
        </p:txBody>
      </p:sp>
      <p:sp>
        <p:nvSpPr>
          <p:cNvPr id="12" name="card"/>
          <p:cNvSpPr/>
          <p:nvPr/>
        </p:nvSpPr>
        <p:spPr>
          <a:xfrm>
            <a:off x="6080760" y="3429000"/>
            <a:ext cx="2606040" cy="896112"/>
          </a:xfrm>
          <a:prstGeom prst="roundRect">
            <a:avLst>
              <a:gd name="adj" fmla="val 12245"/>
            </a:avLst>
          </a:prstGeom>
          <a:solidFill>
            <a:srgbClr val="F3F6FC"/>
          </a:solidFill>
          <a:ln w="12700">
            <a:solidFill>
              <a:srgbClr val="F3F6FC"/>
            </a:solidFill>
            <a:prstDash val="solid"/>
          </a:ln>
        </p:spPr>
      </p:sp>
      <p:sp>
        <p:nvSpPr>
          <p:cNvPr id="13" name="Text 9"/>
          <p:cNvSpPr txBox="1"/>
          <p:nvPr/>
        </p:nvSpPr>
        <p:spPr>
          <a:xfrm>
            <a:off x="6217920" y="3456432"/>
            <a:ext cx="2377440" cy="548640"/>
          </a:xfrm>
          <a:prstGeom prst="rect">
            <a:avLst/>
          </a:prstGeom>
          <a:noFill/>
          <a:ln/>
        </p:spPr>
        <p:txBody>
          <a:bodyPr wrap="square" lIns="0" tIns="0" rIns="0" bIns="0" rtlCol="0" anchor="ctr"/>
          <a:lstStyle/>
          <a:p>
            <a:pPr indent="0" marL="0">
              <a:buNone/>
            </a:pPr>
            <a:r>
              <a:rPr lang="en-US" sz="2000" b="1" dirty="0">
                <a:solidFill>
                  <a:srgbClr val="1D5FE0"/>
                </a:solidFill>
                <a:latin typeface="Cambria" pitchFamily="34" charset="0"/>
                <a:ea typeface="Cambria" pitchFamily="34" charset="-122"/>
                <a:cs typeface="Cambria" pitchFamily="34" charset="-120"/>
              </a:rPr>
              <a:t>47%</a:t>
            </a:r>
            <a:endParaRPr lang="en-US" sz="2000" dirty="0"/>
          </a:p>
        </p:txBody>
      </p:sp>
      <p:sp>
        <p:nvSpPr>
          <p:cNvPr id="14" name="Text 10"/>
          <p:cNvSpPr txBox="1"/>
          <p:nvPr/>
        </p:nvSpPr>
        <p:spPr>
          <a:xfrm>
            <a:off x="6217920" y="3931920"/>
            <a:ext cx="2377440" cy="384048"/>
          </a:xfrm>
          <a:prstGeom prst="rect">
            <a:avLst/>
          </a:prstGeom>
          <a:noFill/>
          <a:ln/>
        </p:spPr>
        <p:txBody>
          <a:bodyPr wrap="square" lIns="0" tIns="0" rIns="0" bIns="0" rtlCol="0" anchor="t"/>
          <a:lstStyle/>
          <a:p>
            <a:pPr indent="0" marL="0">
              <a:buNone/>
            </a:pPr>
            <a:r>
              <a:rPr lang="en-US" sz="1100" dirty="0">
                <a:solidFill>
                  <a:srgbClr val="0C1B3A"/>
                </a:solidFill>
              </a:rPr>
              <a:t>volume we could lose before the cap stops paying off</a:t>
            </a:r>
            <a:endParaRPr lang="en-US" sz="1100" dirty="0"/>
          </a:p>
        </p:txBody>
      </p:sp>
      <p:sp>
        <p:nvSpPr>
          <p:cNvPr id="15" name="Text 11"/>
          <p:cNvSpPr txBox="1"/>
          <p:nvPr/>
        </p:nvSpPr>
        <p:spPr>
          <a:xfrm>
            <a:off x="457200" y="4572000"/>
            <a:ext cx="8229600" cy="365760"/>
          </a:xfrm>
          <a:prstGeom prst="rect">
            <a:avLst/>
          </a:prstGeom>
          <a:noFill/>
          <a:ln/>
        </p:spPr>
        <p:txBody>
          <a:bodyPr wrap="square" lIns="0" tIns="0" rIns="0" bIns="0" rtlCol="0" anchor="t"/>
          <a:lstStyle/>
          <a:p>
            <a:pPr indent="0" marL="0">
              <a:buNone/>
            </a:pPr>
            <a:r>
              <a:rPr lang="en-US" sz="1100" dirty="0">
                <a:solidFill>
                  <a:srgbClr val="5B6B8C"/>
                </a:solidFill>
              </a:rPr>
              <a:t>A what-if scenario, not a forecast: it assumes those lines are re-priced at the cap and nothing else changes.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6"/>
        </a:solidFill>
      </p:bgPr>
    </p:bg>
    <p:spTree>
      <p:nvGrpSpPr>
        <p:cNvPr id="1" name=""/>
        <p:cNvGrpSpPr/>
        <p:nvPr/>
      </p:nvGrpSpPr>
      <p:grpSpPr>
        <a:xfrm>
          <a:off x="0" y="0"/>
          <a:ext cx="0" cy="0"/>
          <a:chOff x="0" y="0"/>
          <a:chExt cx="0" cy="0"/>
        </a:xfrm>
      </p:grpSpPr>
      <p:sp>
        <p:nvSpPr>
          <p:cNvPr id="3" name="Text 0"/>
          <p:cNvSpPr txBox="1"/>
          <p:nvPr/>
        </p:nvSpPr>
        <p:spPr>
          <a:xfrm>
            <a:off x="457200" y="256032"/>
            <a:ext cx="8229600" cy="256032"/>
          </a:xfrm>
          <a:prstGeom prst="rect">
            <a:avLst/>
          </a:prstGeom>
          <a:noFill/>
          <a:ln/>
        </p:spPr>
        <p:txBody>
          <a:bodyPr wrap="square" lIns="0" tIns="0" rIns="0" bIns="0" rtlCol="0" anchor="ctr"/>
          <a:lstStyle/>
          <a:p>
            <a:pPr indent="0" marL="0">
              <a:buNone/>
            </a:pPr>
            <a:r>
              <a:rPr lang="en-US" sz="1200" b="1" spc="200" kern="0" dirty="0">
                <a:solidFill>
                  <a:srgbClr val="E0912A"/>
                </a:solidFill>
              </a:rPr>
              <a:t>THE VERDICT</a:t>
            </a:r>
            <a:endParaRPr lang="en-US" sz="1200" dirty="0"/>
          </a:p>
        </p:txBody>
      </p:sp>
      <p:pic>
        <p:nvPicPr>
          <p:cNvPr id="4" name="Image 0" descr="/home/claude/deck/logo_white.png">    </p:cNvPr>
          <p:cNvPicPr>
            <a:picLocks noChangeAspect="1"/>
          </p:cNvPicPr>
          <p:nvPr/>
        </p:nvPicPr>
        <p:blipFill>
          <a:blip r:embed="rId1"/>
          <a:stretch>
            <a:fillRect/>
          </a:stretch>
        </p:blipFill>
        <p:spPr>
          <a:xfrm>
            <a:off x="7863840" y="274320"/>
            <a:ext cx="822960" cy="822960"/>
          </a:xfrm>
          <a:prstGeom prst="rect">
            <a:avLst/>
          </a:prstGeom>
        </p:spPr>
      </p:pic>
      <p:sp>
        <p:nvSpPr>
          <p:cNvPr id="5" name="Text 1"/>
          <p:cNvSpPr txBox="1"/>
          <p:nvPr/>
        </p:nvSpPr>
        <p:spPr>
          <a:xfrm>
            <a:off x="457200" y="822960"/>
            <a:ext cx="7315200" cy="11887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Bigger discounts didn't buy bigger orders. They just cost margin.</a:t>
            </a:r>
            <a:endParaRPr lang="en-US" sz="3000" dirty="0"/>
          </a:p>
        </p:txBody>
      </p:sp>
      <p:sp>
        <p:nvSpPr>
          <p:cNvPr id="6" name="card"/>
          <p:cNvSpPr/>
          <p:nvPr/>
        </p:nvSpPr>
        <p:spPr>
          <a:xfrm>
            <a:off x="457200" y="2286000"/>
            <a:ext cx="2651760" cy="1097280"/>
          </a:xfrm>
          <a:prstGeom prst="roundRect">
            <a:avLst>
              <a:gd name="adj" fmla="val 10000"/>
            </a:avLst>
          </a:prstGeom>
          <a:solidFill>
            <a:srgbClr val="121C38"/>
          </a:solidFill>
          <a:ln w="12700">
            <a:solidFill>
              <a:srgbClr val="121C38"/>
            </a:solidFill>
            <a:prstDash val="solid"/>
          </a:ln>
        </p:spPr>
      </p:sp>
      <p:sp>
        <p:nvSpPr>
          <p:cNvPr id="7" name="Text 3"/>
          <p:cNvSpPr txBox="1"/>
          <p:nvPr/>
        </p:nvSpPr>
        <p:spPr>
          <a:xfrm>
            <a:off x="640080" y="2359152"/>
            <a:ext cx="2286000" cy="457200"/>
          </a:xfrm>
          <a:prstGeom prst="rect">
            <a:avLst/>
          </a:prstGeom>
          <a:noFill/>
          <a:ln/>
        </p:spPr>
        <p:txBody>
          <a:bodyPr wrap="square" lIns="0" tIns="0" rIns="0" bIns="0" rtlCol="0" anchor="ctr"/>
          <a:lstStyle/>
          <a:p>
            <a:pPr indent="0" marL="0">
              <a:buNone/>
            </a:pPr>
            <a:r>
              <a:rPr lang="en-US" sz="2200" b="1" dirty="0">
                <a:solidFill>
                  <a:srgbClr val="E0912A"/>
                </a:solidFill>
                <a:latin typeface="Cambria" pitchFamily="34" charset="0"/>
                <a:ea typeface="Cambria" pitchFamily="34" charset="-122"/>
                <a:cs typeface="Cambria" pitchFamily="34" charset="-120"/>
              </a:rPr>
              <a:t>Review</a:t>
            </a:r>
            <a:endParaRPr lang="en-US" sz="2200" dirty="0"/>
          </a:p>
        </p:txBody>
      </p:sp>
      <p:sp>
        <p:nvSpPr>
          <p:cNvPr id="8" name="Text 4"/>
          <p:cNvSpPr txBox="1"/>
          <p:nvPr/>
        </p:nvSpPr>
        <p:spPr>
          <a:xfrm>
            <a:off x="640080" y="2816352"/>
            <a:ext cx="2286000" cy="502920"/>
          </a:xfrm>
          <a:prstGeom prst="rect">
            <a:avLst/>
          </a:prstGeom>
          <a:noFill/>
          <a:ln/>
        </p:spPr>
        <p:txBody>
          <a:bodyPr wrap="square" lIns="0" tIns="0" rIns="0" bIns="0" rtlCol="0" anchor="t"/>
          <a:lstStyle/>
          <a:p>
            <a:pPr indent="0" marL="0">
              <a:buNone/>
            </a:pPr>
            <a:r>
              <a:rPr lang="en-US" sz="1300" dirty="0">
                <a:solidFill>
                  <a:srgbClr val="FFFFFF"/>
                </a:solidFill>
              </a:rPr>
              <a:t>the wholesale discount cap</a:t>
            </a:r>
            <a:endParaRPr lang="en-US" sz="1300" dirty="0"/>
          </a:p>
        </p:txBody>
      </p:sp>
      <p:sp>
        <p:nvSpPr>
          <p:cNvPr id="9" name="card"/>
          <p:cNvSpPr/>
          <p:nvPr/>
        </p:nvSpPr>
        <p:spPr>
          <a:xfrm>
            <a:off x="3273552" y="2286000"/>
            <a:ext cx="2651760" cy="1097280"/>
          </a:xfrm>
          <a:prstGeom prst="roundRect">
            <a:avLst>
              <a:gd name="adj" fmla="val 10000"/>
            </a:avLst>
          </a:prstGeom>
          <a:solidFill>
            <a:srgbClr val="121C38"/>
          </a:solidFill>
          <a:ln w="12700">
            <a:solidFill>
              <a:srgbClr val="121C38"/>
            </a:solidFill>
            <a:prstDash val="solid"/>
          </a:ln>
        </p:spPr>
      </p:sp>
      <p:sp>
        <p:nvSpPr>
          <p:cNvPr id="10" name="Text 6"/>
          <p:cNvSpPr txBox="1"/>
          <p:nvPr/>
        </p:nvSpPr>
        <p:spPr>
          <a:xfrm>
            <a:off x="3456432" y="2359152"/>
            <a:ext cx="2286000" cy="457200"/>
          </a:xfrm>
          <a:prstGeom prst="rect">
            <a:avLst/>
          </a:prstGeom>
          <a:noFill/>
          <a:ln/>
        </p:spPr>
        <p:txBody>
          <a:bodyPr wrap="square" lIns="0" tIns="0" rIns="0" bIns="0" rtlCol="0" anchor="ctr"/>
          <a:lstStyle/>
          <a:p>
            <a:pPr indent="0" marL="0">
              <a:buNone/>
            </a:pPr>
            <a:r>
              <a:rPr lang="en-US" sz="2200" b="1" dirty="0">
                <a:solidFill>
                  <a:srgbClr val="E0912A"/>
                </a:solidFill>
                <a:latin typeface="Cambria" pitchFamily="34" charset="0"/>
                <a:ea typeface="Cambria" pitchFamily="34" charset="-122"/>
                <a:cs typeface="Cambria" pitchFamily="34" charset="-120"/>
              </a:rPr>
              <a:t>Fix</a:t>
            </a:r>
            <a:endParaRPr lang="en-US" sz="2200" dirty="0"/>
          </a:p>
        </p:txBody>
      </p:sp>
      <p:sp>
        <p:nvSpPr>
          <p:cNvPr id="11" name="Text 7"/>
          <p:cNvSpPr txBox="1"/>
          <p:nvPr/>
        </p:nvSpPr>
        <p:spPr>
          <a:xfrm>
            <a:off x="3456432" y="2816352"/>
            <a:ext cx="2286000" cy="502920"/>
          </a:xfrm>
          <a:prstGeom prst="rect">
            <a:avLst/>
          </a:prstGeom>
          <a:noFill/>
          <a:ln/>
        </p:spPr>
        <p:txBody>
          <a:bodyPr wrap="square" lIns="0" tIns="0" rIns="0" bIns="0" rtlCol="0" anchor="t"/>
          <a:lstStyle/>
          <a:p>
            <a:pPr indent="0" marL="0">
              <a:buNone/>
            </a:pPr>
            <a:r>
              <a:rPr lang="en-US" sz="1300" dirty="0">
                <a:solidFill>
                  <a:srgbClr val="FFFFFF"/>
                </a:solidFill>
              </a:rPr>
              <a:t>late suppliers SUP04 and SUP09</a:t>
            </a:r>
            <a:endParaRPr lang="en-US" sz="1300" dirty="0"/>
          </a:p>
        </p:txBody>
      </p:sp>
      <p:sp>
        <p:nvSpPr>
          <p:cNvPr id="12" name="card"/>
          <p:cNvSpPr/>
          <p:nvPr/>
        </p:nvSpPr>
        <p:spPr>
          <a:xfrm>
            <a:off x="6089904" y="2286000"/>
            <a:ext cx="2651760" cy="1097280"/>
          </a:xfrm>
          <a:prstGeom prst="roundRect">
            <a:avLst>
              <a:gd name="adj" fmla="val 10000"/>
            </a:avLst>
          </a:prstGeom>
          <a:solidFill>
            <a:srgbClr val="121C38"/>
          </a:solidFill>
          <a:ln w="12700">
            <a:solidFill>
              <a:srgbClr val="121C38"/>
            </a:solidFill>
            <a:prstDash val="solid"/>
          </a:ln>
        </p:spPr>
      </p:sp>
      <p:sp>
        <p:nvSpPr>
          <p:cNvPr id="13" name="Text 9"/>
          <p:cNvSpPr txBox="1"/>
          <p:nvPr/>
        </p:nvSpPr>
        <p:spPr>
          <a:xfrm>
            <a:off x="6272784" y="2359152"/>
            <a:ext cx="2286000" cy="457200"/>
          </a:xfrm>
          <a:prstGeom prst="rect">
            <a:avLst/>
          </a:prstGeom>
          <a:noFill/>
          <a:ln/>
        </p:spPr>
        <p:txBody>
          <a:bodyPr wrap="square" lIns="0" tIns="0" rIns="0" bIns="0" rtlCol="0" anchor="ctr"/>
          <a:lstStyle/>
          <a:p>
            <a:pPr indent="0" marL="0">
              <a:buNone/>
            </a:pPr>
            <a:r>
              <a:rPr lang="en-US" sz="2200" b="1" dirty="0">
                <a:solidFill>
                  <a:srgbClr val="E0912A"/>
                </a:solidFill>
                <a:latin typeface="Cambria" pitchFamily="34" charset="0"/>
                <a:ea typeface="Cambria" pitchFamily="34" charset="-122"/>
                <a:cs typeface="Cambria" pitchFamily="34" charset="-120"/>
              </a:rPr>
              <a:t>Shift</a:t>
            </a:r>
            <a:endParaRPr lang="en-US" sz="2200" dirty="0"/>
          </a:p>
        </p:txBody>
      </p:sp>
      <p:sp>
        <p:nvSpPr>
          <p:cNvPr id="14" name="Text 10"/>
          <p:cNvSpPr txBox="1"/>
          <p:nvPr/>
        </p:nvSpPr>
        <p:spPr>
          <a:xfrm>
            <a:off x="6272784" y="2816352"/>
            <a:ext cx="2286000" cy="502920"/>
          </a:xfrm>
          <a:prstGeom prst="rect">
            <a:avLst/>
          </a:prstGeom>
          <a:noFill/>
          <a:ln/>
        </p:spPr>
        <p:txBody>
          <a:bodyPr wrap="square" lIns="0" tIns="0" rIns="0" bIns="0" rtlCol="0" anchor="t"/>
          <a:lstStyle/>
          <a:p>
            <a:pPr indent="0" marL="0">
              <a:buNone/>
            </a:pPr>
            <a:r>
              <a:rPr lang="en-US" sz="1300" dirty="0">
                <a:solidFill>
                  <a:srgbClr val="FFFFFF"/>
                </a:solidFill>
              </a:rPr>
              <a:t>marketing spend by ROAS</a:t>
            </a:r>
            <a:endParaRPr lang="en-US" sz="1300" dirty="0"/>
          </a:p>
        </p:txBody>
      </p:sp>
      <p:sp>
        <p:nvSpPr>
          <p:cNvPr id="15" name="Text 11"/>
          <p:cNvSpPr txBox="1"/>
          <p:nvPr/>
        </p:nvSpPr>
        <p:spPr>
          <a:xfrm>
            <a:off x="457200" y="3611880"/>
            <a:ext cx="8229600" cy="502920"/>
          </a:xfrm>
          <a:prstGeom prst="rect">
            <a:avLst/>
          </a:prstGeom>
          <a:noFill/>
          <a:ln/>
        </p:spPr>
        <p:txBody>
          <a:bodyPr wrap="square" lIns="0" tIns="0" rIns="0" bIns="0" rtlCol="0" anchor="t"/>
          <a:lstStyle/>
          <a:p>
            <a:pPr indent="0" marL="0">
              <a:buNone/>
            </a:pPr>
            <a:r>
              <a:rPr lang="en-US" sz="1200" dirty="0">
                <a:solidFill>
                  <a:srgbClr val="9DB8FF"/>
                </a:solidFill>
              </a:rPr>
              <a:t>Honest limits: modeled data (real error would be higher) · the what-if assumes nothing else changes · 2023 and 2026 are partial years.</a:t>
            </a:r>
            <a:endParaRPr lang="en-US" sz="1200" dirty="0"/>
          </a:p>
        </p:txBody>
      </p:sp>
      <p:sp>
        <p:nvSpPr>
          <p:cNvPr id="16" name="Text 12"/>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300" b="1" dirty="0">
                <a:solidFill>
                  <a:srgbClr val="FFFFFF"/>
                </a:solidFill>
              </a:rPr>
              <a:t>Interactive dashboard: </a:t>
            </a:r>
            <a:pPr indent="0" marL="0">
              <a:buNone/>
            </a:pPr>
            <a:r>
              <a:rPr lang="en-US" sz="1300" u="sng" dirty="0">
                <a:solidFill>
                  <a:srgbClr val="9DB8FF"/>
                </a:solidFill>
                <a:hlinkClick r:id="rId2" invalidUrl="" action="" tgtFrame="" tooltip="" history="1" highlightClick="0" endSnd="0">
                  <a:extLst>
                    <a:ext uri="{A12FA001-AC4F-418D-AE19-62706E023703}">
                      <ahyp:hlinkClr xmlns:ahyp="http://schemas.microsoft.com/office/drawing/2018/hyperlinkcolor" val="tx"/>
                    </a:ext>
                  </a:extLst>
                </a:hlinkClick>
              </a:rPr>
              <a:t>diana9940.github.io/sharnouby/dashboard.html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of the Thin Margin</dc:title>
  <dc:subject>PptxGenJS Presentation</dc:subject>
  <dc:creator>PptxGenJS</dc:creator>
  <cp:lastModifiedBy>PptxGenJS</cp:lastModifiedBy>
  <cp:revision>1</cp:revision>
  <dcterms:created xsi:type="dcterms:W3CDTF">2026-10-16T10:18:55Z</dcterms:created>
  <dcterms:modified xsi:type="dcterms:W3CDTF">2026-10-16T10:18:55Z</dcterms:modified>
</cp:coreProperties>
</file>